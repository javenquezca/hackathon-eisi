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61" r:id="rId8"/>
    <p:sldId id="260" r:id="rId9"/>
    <p:sldId id="259" r:id="rId10"/>
    <p:sldId id="264" r:id="rId11"/>
    <p:sldId id="263" r:id="rId12"/>
    <p:sldId id="26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B84AF-5304-907F-3164-AC0EDC51C468}" v="160" dt="2026-10-29T16:59:40.894"/>
    <p1510:client id="{A203FD85-5368-3994-26C6-FEFE74C0C17D}" v="281" dt="2026-10-29T19:43:30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33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1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23961d35-caf7-5a09-963d-e18a3a25bb93/scratchpad/genia/logo_g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901" y="6263640"/>
            <a:ext cx="1829714" cy="347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MA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1D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83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Hackatón EISI 2026 · Modalidad virtual · Metodología GENIA</a:t>
            </a:r>
            <a:endParaRPr lang="en-US" sz="900"/>
          </a:p>
        </p:txBody>
      </p:sp>
      <p:pic>
        <p:nvPicPr>
          <p:cNvPr id="4" name="Image 0" descr="/tmp/claude-0/-home-claude/23961d35-caf7-5a09-963d-e18a3a25bb93/scratchpad/genia/logo_g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3439" y="6469380"/>
            <a:ext cx="1591056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dellin.gov.co/es/sala-de-prensa/noticias/la-iguana-en-medellin-se-transforma-deja-de-ser-punto-critico-de-residuos-y-adopta-acciones-de-compromiso-ciudadan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uto30.com/inadecuada-disposicion-basuras-genra-plagas-malestar-robledo-curazao/1660486/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dellin.gov.co/es/sala-de-prensa/noticias/como-se-gestionan-los-residuos-solidos-en-medellin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dellin.gov.co/es/sala-de-prensa/noticias/medellin-graduo-su-primer-punto-critico-de-residuos-de-2026-ahora-es-un-espacio-verde-sin-basuras-y-para-la-gente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280160" cy="1280160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5400"/>
          </a:p>
        </p:txBody>
      </p:sp>
      <p:sp>
        <p:nvSpPr>
          <p:cNvPr id="4" name="Text 2"/>
          <p:cNvSpPr txBox="1"/>
          <p:nvPr/>
        </p:nvSpPr>
        <p:spPr>
          <a:xfrm>
            <a:off x="2240280" y="73152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B8D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DE 5 · METODOLOGÍA GENIA</a:t>
            </a:r>
            <a:endParaRPr lang="en-US" sz="1200"/>
          </a:p>
        </p:txBody>
      </p:sp>
      <p:sp>
        <p:nvSpPr>
          <p:cNvPr id="5" name="Text 3"/>
          <p:cNvSpPr txBox="1"/>
          <p:nvPr/>
        </p:nvSpPr>
        <p:spPr>
          <a:xfrm>
            <a:off x="2240280" y="1024128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 la situación</a:t>
            </a:r>
            <a:endParaRPr lang="en-US" sz="4000"/>
          </a:p>
        </p:txBody>
      </p:sp>
      <p:sp>
        <p:nvSpPr>
          <p:cNvPr id="6" name="Text 4"/>
          <p:cNvSpPr txBox="1"/>
          <p:nvPr/>
        </p:nvSpPr>
        <p:spPr>
          <a:xfrm>
            <a:off x="2240280" y="175564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Profundizar en el reto escuchando a personas que conocen el tema y consultando fuentes confiables.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493008" cy="2423160"/>
          </a:xfrm>
          <a:prstGeom prst="roundRect">
            <a:avLst>
              <a:gd name="adj" fmla="val 3019"/>
            </a:avLst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8D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esta etapa</a:t>
            </a:r>
            <a:endParaRPr lang="en-US" sz="140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corta: plantilla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(una por entrevista)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consulta (una por fuente)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315968" y="2697480"/>
            <a:ext cx="3493008" cy="2423160"/>
          </a:xfrm>
          <a:prstGeom prst="roundRect">
            <a:avLst>
              <a:gd name="adj" fmla="val 3019"/>
            </a:avLst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 txBox="1"/>
          <p:nvPr/>
        </p:nvSpPr>
        <p:spPr>
          <a:xfrm>
            <a:off x="4544568" y="28803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8D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· 29 de octubre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4544568" y="3291840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Colombia: 10:00 – 12:00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y Honduras: 9:00 – 11:00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cierre, revisión corta del mentor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7991856" y="2697480"/>
            <a:ext cx="3493008" cy="2423160"/>
          </a:xfrm>
          <a:prstGeom prst="roundRect">
            <a:avLst>
              <a:gd name="adj" fmla="val 3019"/>
            </a:avLst>
          </a:prstGeom>
          <a:solidFill>
            <a:srgbClr val="17306B"/>
          </a:solidFill>
          <a:ln w="12700">
            <a:solidFill>
              <a:srgbClr val="1730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 txBox="1"/>
          <p:nvPr/>
        </p:nvSpPr>
        <p:spPr>
          <a:xfrm>
            <a:off x="8220456" y="288036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8D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entregar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8220456" y="3291840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Diligencien cada diapositiva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 el archivo en la carpeta E del canal</a:t>
            </a:r>
            <a:endParaRPr lang="en-US" sz="14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EquipoNN_E_Explora</a:t>
            </a:r>
            <a:endParaRPr lang="en-US" sz="140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diligenciar: </a:t>
            </a:r>
            <a:r>
              <a:rPr lang="en-US" sz="130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hagan clic en el texto gris de cada recuadro, bórrenlo y escriban. Pueden insertar fotos, formas y flechas. Si necesitan otra hoja igual, clic derecho sobre la miniatura › Duplicar diapositiva.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64008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Hackatón EISI 2026 · Modalidad virtual · Metodología GENIA</a:t>
            </a:r>
            <a:endParaRPr lang="en-US" sz="90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0ACE9B4A-D1C7-1F77-051E-C59DC01BB1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77" b="7675"/>
          <a:stretch>
            <a:fillRect/>
          </a:stretch>
        </p:blipFill>
        <p:spPr>
          <a:xfrm>
            <a:off x="9713662" y="0"/>
            <a:ext cx="2478337" cy="1160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66928" cy="566928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1170432" y="246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 corta · Plantilla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Preparen las entrevistas antes de salir. Preguntas abiertas, escuchar más que hablar.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35240" y="27432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26680" y="320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7726680" y="5212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08</a:t>
            </a:r>
            <a:endParaRPr lang="es-CO" sz="1100"/>
          </a:p>
        </p:txBody>
      </p:sp>
      <p:sp>
        <p:nvSpPr>
          <p:cNvPr id="9" name="Shape 7"/>
          <p:cNvSpPr/>
          <p:nvPr/>
        </p:nvSpPr>
        <p:spPr>
          <a:xfrm>
            <a:off x="9445752" y="27432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537192" y="320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Y CIUDAD DE VALIDACIÓN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9537192" y="521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ODS 11 · Residuos y espacio público · Medellín, Robledo</a:t>
            </a:r>
            <a:endParaRPr lang="es-CO" sz="90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3291840" cy="3794760"/>
          </a:xfrm>
          <a:prstGeom prst="roundRect">
            <a:avLst>
              <a:gd name="adj" fmla="val 166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566928" y="121615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GENERALES</a:t>
            </a:r>
            <a:endParaRPr lang="en-US" sz="1050"/>
          </a:p>
        </p:txBody>
      </p:sp>
      <p:sp>
        <p:nvSpPr>
          <p:cNvPr id="14" name="Text 12"/>
          <p:cNvSpPr txBox="1"/>
          <p:nvPr/>
        </p:nvSpPr>
        <p:spPr>
          <a:xfrm>
            <a:off x="566928" y="1490472"/>
            <a:ext cx="3072384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que harán a todos los entrevistados:</a:t>
            </a:r>
            <a:endParaRPr lang="es-CO" sz="1000"/>
          </a:p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¿Crees que en tu zona los residuos se gestionan correctamente? ¿Por qué?</a:t>
            </a:r>
            <a:endParaRPr lang="es-CO" sz="1000"/>
          </a:p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¿Qué piensas que se debería hacer en tu zona para mejorar la gestión de los residuos?</a:t>
            </a:r>
            <a:endParaRPr lang="es-CO" sz="1000"/>
          </a:p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¿Qué haces con la basura en tu casa? ¿La separas en bolsas de colores? ¿Por qué sí o por qué no?</a:t>
            </a:r>
            <a:endParaRPr lang="es-CO" sz="1000"/>
          </a:p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Cuéntame la última vez que viste basura acumulada en un andén o una esquina del barrio. ¿Qué pasó? ¿Cómo te afectó al pasar?</a:t>
            </a:r>
            <a:endParaRPr lang="es-CO" sz="1000"/>
          </a:p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¿Sabes qué días y a qué hora pasa el carro recolector por tu cuadra? ¿Cómo te enteraste?</a:t>
            </a:r>
            <a:endParaRPr lang="es-CO" sz="1000"/>
          </a:p>
        </p:txBody>
      </p:sp>
      <p:sp>
        <p:nvSpPr>
          <p:cNvPr id="15" name="Shape 13"/>
          <p:cNvSpPr/>
          <p:nvPr/>
        </p:nvSpPr>
        <p:spPr>
          <a:xfrm>
            <a:off x="457200" y="5047488"/>
            <a:ext cx="3291840" cy="1225296"/>
          </a:xfrm>
          <a:prstGeom prst="roundRect">
            <a:avLst>
              <a:gd name="adj" fmla="val 4478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566928" y="51206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MEDIO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566928" y="5394960"/>
            <a:ext cx="3072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</a:t>
            </a: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Bolívar</a:t>
            </a:r>
            <a:endParaRPr lang="es-CO" sz="1000"/>
          </a:p>
          <a:p>
            <a:pPr marL="0" indent="0">
              <a:buNone/>
            </a:pPr>
            <a:r>
              <a:rPr lang="es-CO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notas: </a:t>
            </a: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Mejía</a:t>
            </a:r>
            <a:endParaRPr lang="es-CO" sz="1000"/>
          </a:p>
          <a:p>
            <a:r>
              <a:rPr lang="es-CO" sz="1000" b="1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Medio: </a:t>
            </a:r>
            <a:r>
              <a:rPr lang="es-CO" sz="10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presencial en Robledo y 1 llamada</a:t>
            </a:r>
            <a:endParaRPr lang="es-CO" sz="1000"/>
          </a:p>
        </p:txBody>
      </p:sp>
      <p:sp>
        <p:nvSpPr>
          <p:cNvPr id="18" name="Shape 16"/>
          <p:cNvSpPr/>
          <p:nvPr/>
        </p:nvSpPr>
        <p:spPr>
          <a:xfrm>
            <a:off x="3931920" y="1143000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4041648" y="121615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1</a:t>
            </a:r>
            <a:endParaRPr lang="en-US" sz="1050"/>
          </a:p>
        </p:txBody>
      </p:sp>
      <p:sp>
        <p:nvSpPr>
          <p:cNvPr id="20" name="Text 18"/>
          <p:cNvSpPr txBox="1"/>
          <p:nvPr/>
        </p:nvSpPr>
        <p:spPr>
          <a:xfrm>
            <a:off x="4041648" y="1490472"/>
            <a:ext cx="215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 de Robledo. Saca la basura de su casa y camina la cuadra a diario.</a:t>
            </a:r>
            <a:endParaRPr lang="es-CO" sz="900"/>
          </a:p>
        </p:txBody>
      </p:sp>
      <p:sp>
        <p:nvSpPr>
          <p:cNvPr id="21" name="Shape 19"/>
          <p:cNvSpPr/>
          <p:nvPr/>
        </p:nvSpPr>
        <p:spPr>
          <a:xfrm>
            <a:off x="6446520" y="114300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6556248" y="121615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QUIERO APRENDER?</a:t>
            </a:r>
            <a:endParaRPr lang="en-US" sz="1050"/>
          </a:p>
        </p:txBody>
      </p:sp>
      <p:sp>
        <p:nvSpPr>
          <p:cNvPr id="23" name="Text 21"/>
          <p:cNvSpPr txBox="1"/>
          <p:nvPr/>
        </p:nvSpPr>
        <p:spPr>
          <a:xfrm>
            <a:off x="6556248" y="1490472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basura sale fuera de horario y qué la motivaría a separar.</a:t>
            </a:r>
            <a:endParaRPr lang="es-CO" sz="900"/>
          </a:p>
        </p:txBody>
      </p:sp>
      <p:sp>
        <p:nvSpPr>
          <p:cNvPr id="24" name="Shape 22"/>
          <p:cNvSpPr/>
          <p:nvPr/>
        </p:nvSpPr>
        <p:spPr>
          <a:xfrm>
            <a:off x="9098280" y="1143000"/>
            <a:ext cx="2633472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9208008" y="12161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ESPECÍFICAS</a:t>
            </a:r>
            <a:endParaRPr lang="en-US" sz="1050"/>
          </a:p>
        </p:txBody>
      </p:sp>
      <p:sp>
        <p:nvSpPr>
          <p:cNvPr id="26" name="Text 24"/>
          <p:cNvSpPr txBox="1"/>
          <p:nvPr/>
        </p:nvSpPr>
        <p:spPr>
          <a:xfrm>
            <a:off x="9208008" y="1490472"/>
            <a:ext cx="24140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hora sacas la basura? ¿Qué pasa si se te pasa el carro?</a:t>
            </a:r>
            <a:endParaRPr lang="es-CO" sz="900"/>
          </a:p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la dejas?</a:t>
            </a:r>
            <a:endParaRPr lang="es-CO" sz="900"/>
          </a:p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 haría más fácil sacarla a tiempo?</a:t>
            </a:r>
            <a:endParaRPr lang="es-CO" sz="900"/>
          </a:p>
        </p:txBody>
      </p:sp>
      <p:sp>
        <p:nvSpPr>
          <p:cNvPr id="27" name="Shape 25"/>
          <p:cNvSpPr/>
          <p:nvPr/>
        </p:nvSpPr>
        <p:spPr>
          <a:xfrm>
            <a:off x="3931920" y="2441448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 txBox="1"/>
          <p:nvPr/>
        </p:nvSpPr>
        <p:spPr>
          <a:xfrm>
            <a:off x="4041648" y="25146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2</a:t>
            </a:r>
            <a:endParaRPr lang="en-US" sz="1050"/>
          </a:p>
        </p:txBody>
      </p:sp>
      <p:sp>
        <p:nvSpPr>
          <p:cNvPr id="29" name="Text 27"/>
          <p:cNvSpPr txBox="1"/>
          <p:nvPr/>
        </p:nvSpPr>
        <p:spPr>
          <a:xfrm>
            <a:off x="4041648" y="2788920"/>
            <a:ext cx="215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que trabaja en el sector y lo recorre todos los días.</a:t>
            </a:r>
            <a:endParaRPr lang="es-CO" sz="900"/>
          </a:p>
        </p:txBody>
      </p:sp>
      <p:sp>
        <p:nvSpPr>
          <p:cNvPr id="30" name="Shape 28"/>
          <p:cNvSpPr/>
          <p:nvPr/>
        </p:nvSpPr>
        <p:spPr>
          <a:xfrm>
            <a:off x="6446520" y="2441448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 txBox="1"/>
          <p:nvPr/>
        </p:nvSpPr>
        <p:spPr>
          <a:xfrm>
            <a:off x="6556248" y="2514600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QUIERO APRENDER?</a:t>
            </a:r>
            <a:endParaRPr lang="en-US" sz="1050"/>
          </a:p>
        </p:txBody>
      </p:sp>
      <p:sp>
        <p:nvSpPr>
          <p:cNvPr id="32" name="Text 30"/>
          <p:cNvSpPr txBox="1"/>
          <p:nvPr/>
        </p:nvSpPr>
        <p:spPr>
          <a:xfrm>
            <a:off x="6556248" y="2788920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puntos y horarios ve críticos, y qué intentos de solución ha visto funcionar o fallar.</a:t>
            </a:r>
            <a:endParaRPr lang="es-CO" sz="900"/>
          </a:p>
        </p:txBody>
      </p:sp>
      <p:sp>
        <p:nvSpPr>
          <p:cNvPr id="33" name="Shape 31"/>
          <p:cNvSpPr/>
          <p:nvPr/>
        </p:nvSpPr>
        <p:spPr>
          <a:xfrm>
            <a:off x="9098280" y="2441448"/>
            <a:ext cx="2633472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 txBox="1"/>
          <p:nvPr/>
        </p:nvSpPr>
        <p:spPr>
          <a:xfrm>
            <a:off x="9208008" y="251460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ESPECÍFICAS</a:t>
            </a:r>
            <a:endParaRPr lang="en-US" sz="1050"/>
          </a:p>
        </p:txBody>
      </p:sp>
      <p:sp>
        <p:nvSpPr>
          <p:cNvPr id="35" name="Text 33"/>
          <p:cNvSpPr txBox="1"/>
          <p:nvPr/>
        </p:nvSpPr>
        <p:spPr>
          <a:xfrm>
            <a:off x="9208008" y="2788920"/>
            <a:ext cx="24140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esquinas ve basura y cuándo está peor?</a:t>
            </a:r>
            <a:endParaRPr lang="es-CO" sz="900"/>
          </a:p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 tenido que bajarse a la calle?</a:t>
            </a:r>
            <a:endParaRPr lang="es-CO" sz="900"/>
          </a:p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universidad o la comunidad han intentado algo?</a:t>
            </a:r>
            <a:endParaRPr lang="es-CO" sz="900"/>
          </a:p>
        </p:txBody>
      </p:sp>
      <p:sp>
        <p:nvSpPr>
          <p:cNvPr id="36" name="Shape 34"/>
          <p:cNvSpPr/>
          <p:nvPr/>
        </p:nvSpPr>
        <p:spPr>
          <a:xfrm>
            <a:off x="3931920" y="3739896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 txBox="1"/>
          <p:nvPr/>
        </p:nvSpPr>
        <p:spPr>
          <a:xfrm>
            <a:off x="4041648" y="381304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3</a:t>
            </a:r>
            <a:endParaRPr lang="en-US" sz="1050"/>
          </a:p>
        </p:txBody>
      </p:sp>
      <p:sp>
        <p:nvSpPr>
          <p:cNvPr id="38" name="Text 36"/>
          <p:cNvSpPr txBox="1"/>
          <p:nvPr/>
        </p:nvSpPr>
        <p:spPr>
          <a:xfrm>
            <a:off x="4041648" y="4087368"/>
            <a:ext cx="215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Celador de la zona. Vigila la calle y ve lo que pasa a toda hora.</a:t>
            </a:r>
            <a:endParaRPr lang="es-CO" sz="900"/>
          </a:p>
        </p:txBody>
      </p:sp>
      <p:sp>
        <p:nvSpPr>
          <p:cNvPr id="39" name="Shape 37"/>
          <p:cNvSpPr/>
          <p:nvPr/>
        </p:nvSpPr>
        <p:spPr>
          <a:xfrm>
            <a:off x="6446520" y="3739896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 txBox="1"/>
          <p:nvPr/>
        </p:nvSpPr>
        <p:spPr>
          <a:xfrm>
            <a:off x="6556248" y="381304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QUIERO APRENDER?</a:t>
            </a:r>
            <a:endParaRPr lang="en-US" sz="1050"/>
          </a:p>
        </p:txBody>
      </p:sp>
      <p:sp>
        <p:nvSpPr>
          <p:cNvPr id="41" name="Text 39"/>
          <p:cNvSpPr txBox="1"/>
          <p:nvPr/>
        </p:nvSpPr>
        <p:spPr>
          <a:xfrm>
            <a:off x="6556248" y="4087368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deja la basura, a qué horas, y qué pasa con las bolsas antes de que llegue el carro.</a:t>
            </a:r>
            <a:endParaRPr lang="es-CO" sz="900"/>
          </a:p>
        </p:txBody>
      </p:sp>
      <p:sp>
        <p:nvSpPr>
          <p:cNvPr id="42" name="Shape 40"/>
          <p:cNvSpPr/>
          <p:nvPr/>
        </p:nvSpPr>
        <p:spPr>
          <a:xfrm>
            <a:off x="9098280" y="3739896"/>
            <a:ext cx="2633472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 txBox="1"/>
          <p:nvPr/>
        </p:nvSpPr>
        <p:spPr>
          <a:xfrm>
            <a:off x="9208008" y="381304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ESPECÍFICAS</a:t>
            </a:r>
            <a:endParaRPr lang="en-US" sz="1050"/>
          </a:p>
        </p:txBody>
      </p:sp>
      <p:sp>
        <p:nvSpPr>
          <p:cNvPr id="44" name="Text 42"/>
          <p:cNvSpPr txBox="1"/>
          <p:nvPr/>
        </p:nvSpPr>
        <p:spPr>
          <a:xfrm>
            <a:off x="9208008" y="4087368"/>
            <a:ext cx="24140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horas ve que sacan la basura?</a:t>
            </a:r>
            <a:endParaRPr lang="es-CO" sz="900"/>
          </a:p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la dejan en la esquina?</a:t>
            </a:r>
            <a:endParaRPr lang="es-CO" sz="900"/>
          </a:p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con las bolsas antes del carro?</a:t>
            </a:r>
            <a:endParaRPr lang="es-CO" sz="900"/>
          </a:p>
        </p:txBody>
      </p:sp>
      <p:sp>
        <p:nvSpPr>
          <p:cNvPr id="45" name="Shape 43"/>
          <p:cNvSpPr/>
          <p:nvPr/>
        </p:nvSpPr>
        <p:spPr>
          <a:xfrm>
            <a:off x="3931920" y="5038344"/>
            <a:ext cx="2377440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 txBox="1"/>
          <p:nvPr/>
        </p:nvSpPr>
        <p:spPr>
          <a:xfrm>
            <a:off x="4041648" y="511149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4</a:t>
            </a:r>
            <a:endParaRPr lang="en-US" sz="1050"/>
          </a:p>
        </p:txBody>
      </p:sp>
      <p:sp>
        <p:nvSpPr>
          <p:cNvPr id="47" name="Text 45"/>
          <p:cNvSpPr txBox="1"/>
          <p:nvPr/>
        </p:nvSpPr>
        <p:spPr>
          <a:xfrm>
            <a:off x="4041648" y="5385816"/>
            <a:ext cx="2157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Reciclador de oficio que recorre el sector (opcional; no se alcanzó a entrevistar, queda como siguiente paso).</a:t>
            </a:r>
            <a:endParaRPr lang="es-CO" sz="900"/>
          </a:p>
        </p:txBody>
      </p:sp>
      <p:sp>
        <p:nvSpPr>
          <p:cNvPr id="48" name="Shape 46"/>
          <p:cNvSpPr/>
          <p:nvPr/>
        </p:nvSpPr>
        <p:spPr>
          <a:xfrm>
            <a:off x="6446520" y="5038344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 txBox="1"/>
          <p:nvPr/>
        </p:nvSpPr>
        <p:spPr>
          <a:xfrm>
            <a:off x="6556248" y="5111496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QUIERO APRENDER?</a:t>
            </a:r>
            <a:endParaRPr lang="en-US" sz="1050"/>
          </a:p>
        </p:txBody>
      </p:sp>
      <p:sp>
        <p:nvSpPr>
          <p:cNvPr id="50" name="Text 48"/>
          <p:cNvSpPr txBox="1"/>
          <p:nvPr/>
        </p:nvSpPr>
        <p:spPr>
          <a:xfrm>
            <a:off x="6556248" y="5385816"/>
            <a:ext cx="22951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material se pierde por venir mezclado y qué le facilitaría el trabajo.</a:t>
            </a:r>
            <a:endParaRPr lang="es-CO" sz="900"/>
          </a:p>
        </p:txBody>
      </p:sp>
      <p:sp>
        <p:nvSpPr>
          <p:cNvPr id="51" name="Shape 49"/>
          <p:cNvSpPr/>
          <p:nvPr/>
        </p:nvSpPr>
        <p:spPr>
          <a:xfrm>
            <a:off x="9098280" y="5038344"/>
            <a:ext cx="2633472" cy="118872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 txBox="1"/>
          <p:nvPr/>
        </p:nvSpPr>
        <p:spPr>
          <a:xfrm>
            <a:off x="9208008" y="511149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ESPECÍFICAS</a:t>
            </a:r>
            <a:endParaRPr lang="en-US" sz="1050"/>
          </a:p>
        </p:txBody>
      </p:sp>
      <p:sp>
        <p:nvSpPr>
          <p:cNvPr id="53" name="Text 51"/>
          <p:cNvSpPr txBox="1"/>
          <p:nvPr/>
        </p:nvSpPr>
        <p:spPr>
          <a:xfrm>
            <a:off x="9208008" y="5385816"/>
            <a:ext cx="24140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 dificulta el trabajo aquí?</a:t>
            </a:r>
            <a:endParaRPr lang="es-CO" sz="900"/>
          </a:p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de lo que encuentras sirve?</a:t>
            </a:r>
            <a:endParaRPr lang="es-CO" sz="900"/>
          </a:p>
          <a:p>
            <a:pPr marL="114300" indent="-114300">
              <a:buFont typeface="Arial"/>
              <a:buChar char="•"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gustaría recibir el reciclaje?</a:t>
            </a:r>
            <a:endParaRPr lang="es-CO" sz="90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66928" cy="566928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1170432" y="246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 corta · Procesamiento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por entrevista, apenas termina. Duplica esta diapositiva para cada una.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35240" y="27432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26680" y="320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7726680" y="5212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08</a:t>
            </a:r>
            <a:endParaRPr lang="es-CO" sz="1100"/>
          </a:p>
        </p:txBody>
      </p:sp>
      <p:sp>
        <p:nvSpPr>
          <p:cNvPr id="9" name="Shape 7"/>
          <p:cNvSpPr/>
          <p:nvPr/>
        </p:nvSpPr>
        <p:spPr>
          <a:xfrm>
            <a:off x="9445752" y="27432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537192" y="320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Y CIUDAD DE VALIDACIÓN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9537192" y="521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ODS 11 · Residuos y espacio público · Medellín, Robledo</a:t>
            </a:r>
            <a:endParaRPr lang="es-CO" sz="90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566928" y="12161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N.º</a:t>
            </a:r>
            <a:endParaRPr lang="en-US" sz="1050"/>
          </a:p>
        </p:txBody>
      </p:sp>
      <p:sp>
        <p:nvSpPr>
          <p:cNvPr id="14" name="Text 12"/>
          <p:cNvSpPr txBox="1"/>
          <p:nvPr/>
        </p:nvSpPr>
        <p:spPr>
          <a:xfrm>
            <a:off x="566928" y="149047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O" sz="1100"/>
          </a:p>
        </p:txBody>
      </p:sp>
      <p:sp>
        <p:nvSpPr>
          <p:cNvPr id="15" name="Shape 13"/>
          <p:cNvSpPr/>
          <p:nvPr/>
        </p:nvSpPr>
        <p:spPr>
          <a:xfrm>
            <a:off x="457200" y="1984248"/>
            <a:ext cx="3474720" cy="4288536"/>
          </a:xfrm>
          <a:prstGeom prst="roundRect">
            <a:avLst>
              <a:gd name="adj" fmla="val 1579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566928" y="205740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ES?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566928" y="2331720"/>
            <a:ext cx="325526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O" sz="10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Residente de Robledo. Edad aproximada: ___. Vive en la zona, separa el reciclaje en casa, saca la basura entre las 6:00 y 8:00 p. m. y camina la cuadra a diario.</a:t>
            </a:r>
          </a:p>
        </p:txBody>
      </p:sp>
      <p:sp>
        <p:nvSpPr>
          <p:cNvPr id="18" name="Shape 16"/>
          <p:cNvSpPr/>
          <p:nvPr/>
        </p:nvSpPr>
        <p:spPr>
          <a:xfrm>
            <a:off x="4114800" y="1143000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4224528" y="1216152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MÁS IMPORTANTE</a:t>
            </a:r>
            <a:endParaRPr lang="en-US" sz="1050"/>
          </a:p>
        </p:txBody>
      </p:sp>
      <p:sp>
        <p:nvSpPr>
          <p:cNvPr id="20" name="Text 18"/>
          <p:cNvSpPr txBox="1"/>
          <p:nvPr/>
        </p:nvSpPr>
        <p:spPr>
          <a:xfrm>
            <a:off x="4224528" y="1490472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«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siente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maluco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porque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sensación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sube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nariz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puedes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pisar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y se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queda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zapato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entonces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maluco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 Esta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mañana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pasé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todavía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estaba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ahí,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pero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evité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y me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pasé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calle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no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pasara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Facilitar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no,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porque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uno solo es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coger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botarla</a:t>
            </a:r>
            <a:r>
              <a:rPr lang="en-US" sz="110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».</a:t>
            </a:r>
            <a:endParaRPr lang="en-US" sz="1050" i="1" dirty="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0" y="2450592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4224528" y="2523744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INESPERADA OBTUVISTE?</a:t>
            </a:r>
            <a:endParaRPr lang="en-US" sz="1050"/>
          </a:p>
        </p:txBody>
      </p:sp>
      <p:sp>
        <p:nvSpPr>
          <p:cNvPr id="23" name="Text 21"/>
          <p:cNvSpPr txBox="1"/>
          <p:nvPr/>
        </p:nvSpPr>
        <p:spPr>
          <a:xfrm>
            <a:off x="4224528" y="2798064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No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existe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ningún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canal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informativo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visible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sobre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días y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horarios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recolección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barrio;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vecinos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solo se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enteran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observación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empírica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preguntando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otros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inquilinos.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Además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cuando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carro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pasa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residente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opta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perseguirlo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guardar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nuevo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casa.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114800" y="3758184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4224528" y="3831336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CONFIRMASTE?</a:t>
            </a:r>
            <a:endParaRPr lang="en-US" sz="1050"/>
          </a:p>
        </p:txBody>
      </p:sp>
      <p:sp>
        <p:nvSpPr>
          <p:cNvPr id="26" name="Text 24"/>
          <p:cNvSpPr txBox="1"/>
          <p:nvPr/>
        </p:nvSpPr>
        <p:spPr>
          <a:xfrm>
            <a:off x="4224528" y="4105656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acumulación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un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único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punto genera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olores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asfixiantes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riesgo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resbalarse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pisar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desechos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obliga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peatones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cambiarse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acera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bajarse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calle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Además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bolsa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acumulada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desde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día anterior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seguía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sin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recogerse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mañana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siguiente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114800" y="5065776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 txBox="1"/>
          <p:nvPr/>
        </p:nvSpPr>
        <p:spPr>
          <a:xfrm>
            <a:off x="4224528" y="5138928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NUEVAS PREGUNTAS TIENES?</a:t>
            </a:r>
            <a:endParaRPr lang="en-US" sz="1050"/>
          </a:p>
        </p:txBody>
      </p:sp>
      <p:sp>
        <p:nvSpPr>
          <p:cNvPr id="29" name="Text 27"/>
          <p:cNvSpPr txBox="1"/>
          <p:nvPr/>
        </p:nvSpPr>
        <p:spPr>
          <a:xfrm>
            <a:off x="4224528" y="5413248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¿Por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qué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vista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ayer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seguía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andén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esta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mañana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si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días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recolección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son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miércoles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viernes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? ¿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Qué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hacen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vecinos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trabajan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entre 6:00 y 8:00 p. m. y no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alcanzan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carro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ni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quieren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guardar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casa? ¿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Cómo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informar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recién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mudados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?</a:t>
            </a:r>
            <a:endParaRPr lang="en-US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66928" cy="566928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1170432" y="246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 corta · Procesamiento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por entrevista, apenas termina. Duplica esta diapositiva para cada una.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35240" y="27432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26680" y="320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7726680" y="5212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08</a:t>
            </a:r>
            <a:endParaRPr lang="es-CO" sz="1100"/>
          </a:p>
        </p:txBody>
      </p:sp>
      <p:sp>
        <p:nvSpPr>
          <p:cNvPr id="9" name="Shape 7"/>
          <p:cNvSpPr/>
          <p:nvPr/>
        </p:nvSpPr>
        <p:spPr>
          <a:xfrm>
            <a:off x="9445752" y="27432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537192" y="320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Y CIUDAD DE VALIDACIÓN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9537192" y="521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ODS 11 · Residuos y espacio público · Medellín, Robledo</a:t>
            </a:r>
            <a:endParaRPr lang="es-CO" sz="90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566928" y="12161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N.º</a:t>
            </a:r>
            <a:endParaRPr lang="en-US" sz="1050"/>
          </a:p>
        </p:txBody>
      </p:sp>
      <p:sp>
        <p:nvSpPr>
          <p:cNvPr id="14" name="Text 12"/>
          <p:cNvSpPr txBox="1"/>
          <p:nvPr/>
        </p:nvSpPr>
        <p:spPr>
          <a:xfrm>
            <a:off x="566928" y="149047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O" sz="1100"/>
          </a:p>
        </p:txBody>
      </p:sp>
      <p:sp>
        <p:nvSpPr>
          <p:cNvPr id="15" name="Shape 13"/>
          <p:cNvSpPr/>
          <p:nvPr/>
        </p:nvSpPr>
        <p:spPr>
          <a:xfrm>
            <a:off x="457200" y="1984248"/>
            <a:ext cx="3474720" cy="4288536"/>
          </a:xfrm>
          <a:prstGeom prst="roundRect">
            <a:avLst>
              <a:gd name="adj" fmla="val 1579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566928" y="205740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ES?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566928" y="2331720"/>
            <a:ext cx="325526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O" sz="100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Docente universitario que trabaja en el sector de Robledo y viene todos los días. Edad aproximada: 55–65 años. Viaja en bus desde El Retiro y toma el alimentador desde la Terminal del Norte (habitualmente de 10:00 a. m. a 4:00 p. m., y antes a las 6:00 a. m.).</a:t>
            </a:r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0" y="1143000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4224528" y="1216152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MÁS IMPORTANTE</a:t>
            </a:r>
            <a:endParaRPr lang="en-US" sz="1050"/>
          </a:p>
        </p:txBody>
      </p:sp>
      <p:sp>
        <p:nvSpPr>
          <p:cNvPr id="20" name="Text 18"/>
          <p:cNvSpPr txBox="1"/>
          <p:nvPr/>
        </p:nvSpPr>
        <p:spPr>
          <a:xfrm>
            <a:off x="4224528" y="1490472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«En las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mañanas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cuando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he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venido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6 de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mañana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se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mucha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esquinas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;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ahora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vengo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más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tarde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ya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menos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... Nadie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recoger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otro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nadie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 Eso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nadie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hacer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».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114800" y="2450592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4224528" y="2523744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INESPERADA OBTUVISTE?</a:t>
            </a:r>
            <a:endParaRPr lang="en-US" sz="1050"/>
          </a:p>
        </p:txBody>
      </p:sp>
      <p:sp>
        <p:nvSpPr>
          <p:cNvPr id="23" name="Text 21"/>
          <p:cNvSpPr txBox="1"/>
          <p:nvPr/>
        </p:nvSpPr>
        <p:spPr>
          <a:xfrm>
            <a:off x="4224528" y="2798064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docente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percibe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Robledo no es tan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crítico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comparado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con barrios altos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como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Santo Domingo, y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delega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100 % de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solución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empresa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recolectora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Emvarias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),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mostrando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total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escepticismo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frente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acción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ciudadana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comunitaria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114800" y="3758184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4224528" y="3831336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CONFIRMASTE?</a:t>
            </a:r>
            <a:endParaRPr lang="en-US" sz="1050"/>
          </a:p>
        </p:txBody>
      </p:sp>
      <p:sp>
        <p:nvSpPr>
          <p:cNvPr id="26" name="Text 24"/>
          <p:cNvSpPr txBox="1"/>
          <p:nvPr/>
        </p:nvSpPr>
        <p:spPr>
          <a:xfrm>
            <a:off x="4224528" y="4105656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horario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más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crítico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acumulación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esquinas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ocurre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temprano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mañana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alrededor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las 6:00 a. m.), antes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pase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servicio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recolector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mientras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entre las 10:00 a. m. y las 4:00 p. m.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cantidad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visible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disminuye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114800" y="5065776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 txBox="1"/>
          <p:nvPr/>
        </p:nvSpPr>
        <p:spPr>
          <a:xfrm>
            <a:off x="4224528" y="5138928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NUEVAS PREGUNTAS TIENES?</a:t>
            </a:r>
            <a:endParaRPr lang="en-US" sz="1050"/>
          </a:p>
        </p:txBody>
      </p:sp>
      <p:sp>
        <p:nvSpPr>
          <p:cNvPr id="29" name="Text 27"/>
          <p:cNvSpPr txBox="1"/>
          <p:nvPr/>
        </p:nvSpPr>
        <p:spPr>
          <a:xfrm>
            <a:off x="4224528" y="5413248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¿Por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qué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no se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conocen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ni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visibilizan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iniciativas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universidad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o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estudiantes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frente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residuos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entorno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? ¿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Cómo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diseñar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solución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no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dependa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«un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vecino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recoja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otro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»,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sino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evitar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salga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destiempo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?</a:t>
            </a:r>
            <a:endParaRPr lang="en-US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66928" cy="566928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1170432" y="246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 corta · Procesamiento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por entrevista, apenas termina. Duplica esta diapositiva para cada una.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35240" y="27432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26680" y="320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7726680" y="5212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08</a:t>
            </a:r>
            <a:endParaRPr lang="es-CO" sz="1100"/>
          </a:p>
        </p:txBody>
      </p:sp>
      <p:sp>
        <p:nvSpPr>
          <p:cNvPr id="9" name="Shape 7"/>
          <p:cNvSpPr/>
          <p:nvPr/>
        </p:nvSpPr>
        <p:spPr>
          <a:xfrm>
            <a:off x="9445752" y="27432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537192" y="320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Y CIUDAD DE VALIDACIÓN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9537192" y="521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ODS 11 · Residuos y espacio público · Medellín, Robledo</a:t>
            </a:r>
            <a:endParaRPr lang="es-CO" sz="90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 txBox="1"/>
          <p:nvPr/>
        </p:nvSpPr>
        <p:spPr>
          <a:xfrm>
            <a:off x="566928" y="12161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N.º</a:t>
            </a:r>
            <a:endParaRPr lang="en-US" sz="1050"/>
          </a:p>
        </p:txBody>
      </p:sp>
      <p:sp>
        <p:nvSpPr>
          <p:cNvPr id="14" name="Text 12"/>
          <p:cNvSpPr txBox="1"/>
          <p:nvPr/>
        </p:nvSpPr>
        <p:spPr>
          <a:xfrm>
            <a:off x="566928" y="149047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O" sz="1100"/>
          </a:p>
        </p:txBody>
      </p:sp>
      <p:sp>
        <p:nvSpPr>
          <p:cNvPr id="15" name="Shape 13"/>
          <p:cNvSpPr/>
          <p:nvPr/>
        </p:nvSpPr>
        <p:spPr>
          <a:xfrm>
            <a:off x="457200" y="1984248"/>
            <a:ext cx="3474720" cy="4288536"/>
          </a:xfrm>
          <a:prstGeom prst="roundRect">
            <a:avLst>
              <a:gd name="adj" fmla="val 1579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 txBox="1"/>
          <p:nvPr/>
        </p:nvSpPr>
        <p:spPr>
          <a:xfrm>
            <a:off x="566928" y="205740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ES?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566928" y="2331720"/>
            <a:ext cx="325526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Celador de la zona. Edad aproximada: ___. Vigila la calle y ve quién deja la basura y a qué hora.</a:t>
            </a:r>
            <a:endParaRPr lang="es-CO" sz="1000"/>
          </a:p>
        </p:txBody>
      </p:sp>
      <p:sp>
        <p:nvSpPr>
          <p:cNvPr id="18" name="Shape 16"/>
          <p:cNvSpPr/>
          <p:nvPr/>
        </p:nvSpPr>
        <p:spPr>
          <a:xfrm>
            <a:off x="4114800" y="1143000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 txBox="1"/>
          <p:nvPr/>
        </p:nvSpPr>
        <p:spPr>
          <a:xfrm>
            <a:off x="4224528" y="1216152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MÁS IMPORTANTE</a:t>
            </a:r>
            <a:endParaRPr lang="en-US" sz="1050"/>
          </a:p>
        </p:txBody>
      </p:sp>
      <p:sp>
        <p:nvSpPr>
          <p:cNvPr id="20" name="Text 18"/>
          <p:cNvSpPr txBox="1"/>
          <p:nvPr/>
        </p:nvSpPr>
        <p:spPr>
          <a:xfrm>
            <a:off x="4224528" y="1490472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«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Tiran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mucha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estudiantes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trabajadores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del sector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contribuyen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afecta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sobre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todo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aspecto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visual de la zona,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ya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mala imagen</a:t>
            </a:r>
            <a:r>
              <a:rPr lang="en-US" sz="110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».</a:t>
            </a:r>
            <a:endParaRPr lang="en-US" sz="1050" i="1" dirty="0">
              <a:solidFill>
                <a:srgbClr val="1F2A4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0" y="2450592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 txBox="1"/>
          <p:nvPr/>
        </p:nvSpPr>
        <p:spPr>
          <a:xfrm>
            <a:off x="4224528" y="2523744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INESPERADA OBTUVISTE?</a:t>
            </a:r>
            <a:endParaRPr lang="en-US" sz="1050"/>
          </a:p>
        </p:txBody>
      </p:sp>
      <p:sp>
        <p:nvSpPr>
          <p:cNvPr id="23" name="Text 21"/>
          <p:cNvSpPr txBox="1"/>
          <p:nvPr/>
        </p:nvSpPr>
        <p:spPr>
          <a:xfrm>
            <a:off x="4224528" y="2798064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no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proviene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únicamente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las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bolsas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domésticas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sacan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residentes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: la población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flotante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transita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diario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estudiantes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trabajadores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del sector)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contribuye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activamente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arrojar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espacio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público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114800" y="3758184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 txBox="1"/>
          <p:nvPr/>
        </p:nvSpPr>
        <p:spPr>
          <a:xfrm>
            <a:off x="4224528" y="3831336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CONFIRMASTE?</a:t>
            </a:r>
            <a:endParaRPr lang="en-US" sz="1050"/>
          </a:p>
        </p:txBody>
      </p:sp>
      <p:sp>
        <p:nvSpPr>
          <p:cNvPr id="26" name="Text 24"/>
          <p:cNvSpPr txBox="1"/>
          <p:nvPr/>
        </p:nvSpPr>
        <p:spPr>
          <a:xfrm>
            <a:off x="4224528" y="4105656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acumulación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frecuente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residuos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deteriora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forma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directa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aspecto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visual del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espacio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público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Robledo,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generando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mala imagen para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quienes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habitan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estudian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trabajan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sector.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114800" y="5065776"/>
            <a:ext cx="7616952" cy="1197864"/>
          </a:xfrm>
          <a:prstGeom prst="roundRect">
            <a:avLst>
              <a:gd name="adj" fmla="val 458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 txBox="1"/>
          <p:nvPr/>
        </p:nvSpPr>
        <p:spPr>
          <a:xfrm>
            <a:off x="4224528" y="5138928"/>
            <a:ext cx="7397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NUEVAS PREGUNTAS TIENES?</a:t>
            </a:r>
            <a:endParaRPr lang="en-US" sz="1050"/>
          </a:p>
        </p:txBody>
      </p:sp>
      <p:sp>
        <p:nvSpPr>
          <p:cNvPr id="29" name="Text 27"/>
          <p:cNvSpPr txBox="1"/>
          <p:nvPr/>
        </p:nvSpPr>
        <p:spPr>
          <a:xfrm>
            <a:off x="4224528" y="5413248"/>
            <a:ext cx="7397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¿En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qué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horarios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entrada o salida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clases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trabajo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arrojan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más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basura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estudiantes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trabajadores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? ¿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Faltan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canecas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públicas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corredores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peatonales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del sector o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campañas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corresponsabilidad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con las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instituciones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? ¿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Qué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pasa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con las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bolsas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esquina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antes de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llegue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050" dirty="0" err="1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carro</a:t>
            </a:r>
            <a:r>
              <a:rPr lang="en-US" sz="1050" dirty="0">
                <a:solidFill>
                  <a:srgbClr val="1F2A44"/>
                </a:solidFill>
                <a:latin typeface="Calibri"/>
                <a:ea typeface="Calibri"/>
                <a:cs typeface="Calibri"/>
              </a:rPr>
              <a:t>?</a:t>
            </a:r>
            <a:endParaRPr lang="en-US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66928" cy="566928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1170432" y="246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consulta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por fuente. Si alguna respuesta es débil, la fuente probablemente aporta poco.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35240" y="27432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26680" y="320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7726680" y="5212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08</a:t>
            </a:r>
            <a:endParaRPr lang="es-CO" sz="1100"/>
          </a:p>
        </p:txBody>
      </p:sp>
      <p:sp>
        <p:nvSpPr>
          <p:cNvPr id="9" name="Shape 7"/>
          <p:cNvSpPr/>
          <p:nvPr/>
        </p:nvSpPr>
        <p:spPr>
          <a:xfrm>
            <a:off x="9445752" y="27432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537192" y="320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Y CIUDAD DE VALIDACIÓN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9537192" y="521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ODS 11 · Residuos y espacio público · Medellín, Robledo</a:t>
            </a:r>
            <a:endParaRPr lang="es-CO" sz="900"/>
          </a:p>
        </p:txBody>
      </p:sp>
      <p:sp>
        <p:nvSpPr>
          <p:cNvPr id="12" name="Shape 10"/>
          <p:cNvSpPr/>
          <p:nvPr/>
        </p:nvSpPr>
        <p:spPr>
          <a:xfrm>
            <a:off x="3959352" y="3474720"/>
            <a:ext cx="548640" cy="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680960" y="3474720"/>
            <a:ext cx="548640" cy="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094476" y="2148840"/>
            <a:ext cx="0" cy="18288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94476" y="4617720"/>
            <a:ext cx="0" cy="18288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57200" y="1143000"/>
            <a:ext cx="350215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566928" y="12161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N.º</a:t>
            </a:r>
            <a:endParaRPr lang="en-US" sz="1050"/>
          </a:p>
        </p:txBody>
      </p:sp>
      <p:sp>
        <p:nvSpPr>
          <p:cNvPr id="18" name="Text 16"/>
          <p:cNvSpPr txBox="1"/>
          <p:nvPr/>
        </p:nvSpPr>
        <p:spPr>
          <a:xfrm>
            <a:off x="566928" y="1490472"/>
            <a:ext cx="3282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O" sz="1100"/>
          </a:p>
        </p:txBody>
      </p:sp>
      <p:sp>
        <p:nvSpPr>
          <p:cNvPr id="19" name="Shape 17"/>
          <p:cNvSpPr/>
          <p:nvPr/>
        </p:nvSpPr>
        <p:spPr>
          <a:xfrm>
            <a:off x="8229600" y="1143000"/>
            <a:ext cx="350215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8339328" y="12161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O TERRITORIO DE LOS DATOS</a:t>
            </a:r>
            <a:endParaRPr lang="en-US" sz="1050"/>
          </a:p>
        </p:txBody>
      </p:sp>
      <p:sp>
        <p:nvSpPr>
          <p:cNvPr id="21" name="Text 19"/>
          <p:cNvSpPr txBox="1"/>
          <p:nvPr/>
        </p:nvSpPr>
        <p:spPr>
          <a:xfrm>
            <a:off x="8339328" y="1490472"/>
            <a:ext cx="3282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Medellín, Colombia. La Iguaná está en la comuna 7, Robledo: nuestro sector de validación. Sirve directamente.</a:t>
            </a:r>
            <a:endParaRPr lang="es-CO" sz="1000"/>
          </a:p>
        </p:txBody>
      </p:sp>
      <p:sp>
        <p:nvSpPr>
          <p:cNvPr id="22" name="Shape 20"/>
          <p:cNvSpPr/>
          <p:nvPr/>
        </p:nvSpPr>
        <p:spPr>
          <a:xfrm>
            <a:off x="4023360" y="1143000"/>
            <a:ext cx="414223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133088" y="1216152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SU EVIDENCIA?</a:t>
            </a:r>
            <a:endParaRPr lang="en-US" sz="1050"/>
          </a:p>
        </p:txBody>
      </p:sp>
      <p:sp>
        <p:nvSpPr>
          <p:cNvPr id="24" name="Text 22"/>
          <p:cNvSpPr txBox="1"/>
          <p:nvPr/>
        </p:nvSpPr>
        <p:spPr>
          <a:xfrm>
            <a:off x="4133088" y="1490472"/>
            <a:ext cx="3922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ciudad trabaja en la recuperación de 169 puntos críticos de residuos. En La Iguaná se limpió, se sembraron plantas en llantas y se dieron charlas, con 3 meses de seguimiento. «Lo que vivimos en La Iguaná es apenas el primer paso de un proceso» (Manuela García, subsecretaria de Servicios Públicos).</a:t>
            </a:r>
            <a:endParaRPr lang="es-CO" sz="90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566928" y="240487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NUEVAS PREGUNTAS TIENEN?</a:t>
            </a:r>
            <a:endParaRPr lang="en-US" sz="1050"/>
          </a:p>
        </p:txBody>
      </p:sp>
      <p:sp>
        <p:nvSpPr>
          <p:cNvPr id="27" name="Text 25"/>
          <p:cNvSpPr txBox="1"/>
          <p:nvPr/>
        </p:nvSpPr>
        <p:spPr>
          <a:xfrm>
            <a:off x="566928" y="2679192"/>
            <a:ext cx="3282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pasó en La Iguaná después de los 3 meses de seguimiento?</a:t>
            </a:r>
            <a:endParaRPr lang="es-CO" sz="1000"/>
          </a:p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otros puntos críticos en Robledo?</a:t>
            </a:r>
            <a:endParaRPr lang="es-CO" sz="1000"/>
          </a:p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vigila el punto cuando la Alcaldía se va?</a:t>
            </a:r>
            <a:endParaRPr lang="es-CO" sz="1000"/>
          </a:p>
        </p:txBody>
      </p:sp>
      <p:sp>
        <p:nvSpPr>
          <p:cNvPr id="28" name="Shape 26"/>
          <p:cNvSpPr/>
          <p:nvPr/>
        </p:nvSpPr>
        <p:spPr>
          <a:xfrm>
            <a:off x="4507992" y="2331720"/>
            <a:ext cx="3172968" cy="2286000"/>
          </a:xfrm>
          <a:prstGeom prst="ellipse">
            <a:avLst/>
          </a:prstGeom>
          <a:solidFill>
            <a:srgbClr val="0A1D4A"/>
          </a:solidFill>
          <a:ln w="12700">
            <a:solidFill>
              <a:srgbClr val="0A1D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4754880" y="256032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B8D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BÁSICA</a:t>
            </a:r>
            <a:endParaRPr lang="en-US" sz="1050"/>
          </a:p>
        </p:txBody>
      </p:sp>
      <p:sp>
        <p:nvSpPr>
          <p:cNvPr id="30" name="Text 28"/>
          <p:cNvSpPr txBox="1"/>
          <p:nvPr/>
        </p:nvSpPr>
        <p:spPr>
          <a:xfrm>
            <a:off x="4846320" y="2852928"/>
            <a:ext cx="2496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Iguaná deja de ser punto crítico de residuos y adopta acciones de compromiso ciudadano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 de Medellín · Gestión y Control Territorial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 oficial · 12 sep. 2025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Ver enlace (medellin.gov.co)</a:t>
            </a:r>
            <a:endParaRPr lang="es-CO" sz="1000"/>
          </a:p>
        </p:txBody>
      </p:sp>
      <p:sp>
        <p:nvSpPr>
          <p:cNvPr id="31" name="Shape 29"/>
          <p:cNvSpPr/>
          <p:nvPr/>
        </p:nvSpPr>
        <p:spPr>
          <a:xfrm>
            <a:off x="8229600" y="233172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8339328" y="240487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RELEVANTE?</a:t>
            </a:r>
            <a:endParaRPr lang="en-US" sz="1050"/>
          </a:p>
        </p:txBody>
      </p:sp>
      <p:sp>
        <p:nvSpPr>
          <p:cNvPr id="33" name="Text 31"/>
          <p:cNvSpPr txBox="1"/>
          <p:nvPr/>
        </p:nvSpPr>
        <p:spPr>
          <a:xfrm>
            <a:off x="8339328" y="2679192"/>
            <a:ext cx="3282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el problema existe en Robledo y muestra qué entidades actúan: Gestión y Control Territorial, Medio Ambiente, Seguridad y Emvarias. Nuestra solución debe articularse con ellas.</a:t>
            </a:r>
            <a:endParaRPr lang="es-CO" sz="100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350215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 txBox="1"/>
          <p:nvPr/>
        </p:nvSpPr>
        <p:spPr>
          <a:xfrm>
            <a:off x="566928" y="48737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 VERIFICAMOS?</a:t>
            </a:r>
            <a:endParaRPr lang="en-US" sz="1050"/>
          </a:p>
        </p:txBody>
      </p:sp>
      <p:sp>
        <p:nvSpPr>
          <p:cNvPr id="36" name="Text 34"/>
          <p:cNvSpPr txBox="1"/>
          <p:nvPr/>
        </p:nvSpPr>
        <p:spPr>
          <a:xfrm>
            <a:off x="566928" y="514807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fuente oficial de la Alcaldía. La contrastamos con nuestra observación y con las entrevistas hechas en Robledo.</a:t>
            </a:r>
            <a:endParaRPr lang="es-CO" sz="1000"/>
          </a:p>
        </p:txBody>
      </p:sp>
      <p:sp>
        <p:nvSpPr>
          <p:cNvPr id="37" name="Shape 35"/>
          <p:cNvSpPr/>
          <p:nvPr/>
        </p:nvSpPr>
        <p:spPr>
          <a:xfrm>
            <a:off x="4023360" y="4800600"/>
            <a:ext cx="414223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4133088" y="4873752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MÁS SORPRENDENTE?</a:t>
            </a:r>
            <a:endParaRPr lang="en-US" sz="1050"/>
          </a:p>
        </p:txBody>
      </p:sp>
      <p:sp>
        <p:nvSpPr>
          <p:cNvPr id="39" name="Text 37"/>
          <p:cNvSpPr txBox="1"/>
          <p:nvPr/>
        </p:nvSpPr>
        <p:spPr>
          <a:xfrm>
            <a:off x="4133088" y="5148072"/>
            <a:ext cx="3922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intervención es física y pedagógica (plantas, charlas), pero no dice cómo se mide si la gente cambia el hábito.</a:t>
            </a:r>
            <a:endParaRPr lang="es-CO" sz="1000"/>
          </a:p>
        </p:txBody>
      </p:sp>
      <p:sp>
        <p:nvSpPr>
          <p:cNvPr id="40" name="Shape 38"/>
          <p:cNvSpPr/>
          <p:nvPr/>
        </p:nvSpPr>
        <p:spPr>
          <a:xfrm>
            <a:off x="8229600" y="4800600"/>
            <a:ext cx="350215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 txBox="1"/>
          <p:nvPr/>
        </p:nvSpPr>
        <p:spPr>
          <a:xfrm>
            <a:off x="8339328" y="48737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</a:t>
            </a:r>
            <a:endParaRPr lang="en-US" sz="1050"/>
          </a:p>
        </p:txBody>
      </p:sp>
      <p:sp>
        <p:nvSpPr>
          <p:cNvPr id="42" name="Text 40"/>
          <p:cNvSpPr txBox="1"/>
          <p:nvPr/>
        </p:nvSpPr>
        <p:spPr>
          <a:xfrm>
            <a:off x="8339328" y="514807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☒ Aporta mucho   ☐ Aporta poco</a:t>
            </a:r>
            <a:endParaRPr lang="es-CO" sz="1000"/>
          </a:p>
          <a:p>
            <a:pPr marL="0" indent="0">
              <a:buNone/>
            </a:pPr>
            <a:r>
              <a:rPr lang="es-CO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</a:t>
            </a: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oficial y es del mismo sector donde validamos.</a:t>
            </a:r>
            <a:endParaRPr lang="es-CO" sz="100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66928" cy="566928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1170432" y="246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consulta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por fuente. Si alguna respuesta es débil, la fuente probablemente aporta poco.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35240" y="27432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26680" y="320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7726680" y="5212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08</a:t>
            </a:r>
            <a:endParaRPr lang="es-CO" sz="1100"/>
          </a:p>
        </p:txBody>
      </p:sp>
      <p:sp>
        <p:nvSpPr>
          <p:cNvPr id="9" name="Shape 7"/>
          <p:cNvSpPr/>
          <p:nvPr/>
        </p:nvSpPr>
        <p:spPr>
          <a:xfrm>
            <a:off x="9445752" y="27432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537192" y="320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Y CIUDAD DE VALIDACIÓN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9537192" y="521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ODS 11 · Residuos y espacio público · Medellín, Robledo</a:t>
            </a:r>
            <a:endParaRPr lang="es-CO" sz="900"/>
          </a:p>
        </p:txBody>
      </p:sp>
      <p:sp>
        <p:nvSpPr>
          <p:cNvPr id="12" name="Shape 10"/>
          <p:cNvSpPr/>
          <p:nvPr/>
        </p:nvSpPr>
        <p:spPr>
          <a:xfrm>
            <a:off x="3959352" y="3474720"/>
            <a:ext cx="548640" cy="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680960" y="3474720"/>
            <a:ext cx="548640" cy="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094476" y="2148840"/>
            <a:ext cx="0" cy="18288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94476" y="4617720"/>
            <a:ext cx="0" cy="18288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57200" y="1143000"/>
            <a:ext cx="350215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566928" y="12161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N.º</a:t>
            </a:r>
            <a:endParaRPr lang="en-US" sz="1050"/>
          </a:p>
        </p:txBody>
      </p:sp>
      <p:sp>
        <p:nvSpPr>
          <p:cNvPr id="18" name="Text 16"/>
          <p:cNvSpPr txBox="1"/>
          <p:nvPr/>
        </p:nvSpPr>
        <p:spPr>
          <a:xfrm>
            <a:off x="566928" y="1490472"/>
            <a:ext cx="3282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O" sz="1100"/>
          </a:p>
        </p:txBody>
      </p:sp>
      <p:sp>
        <p:nvSpPr>
          <p:cNvPr id="19" name="Shape 17"/>
          <p:cNvSpPr/>
          <p:nvPr/>
        </p:nvSpPr>
        <p:spPr>
          <a:xfrm>
            <a:off x="8229600" y="1143000"/>
            <a:ext cx="350215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8339328" y="12161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O TERRITORIO DE LOS DATOS</a:t>
            </a:r>
            <a:endParaRPr lang="en-US" sz="1050"/>
          </a:p>
        </p:txBody>
      </p:sp>
      <p:sp>
        <p:nvSpPr>
          <p:cNvPr id="21" name="Text 19"/>
          <p:cNvSpPr txBox="1"/>
          <p:nvPr/>
        </p:nvSpPr>
        <p:spPr>
          <a:xfrm>
            <a:off x="8339328" y="1490472"/>
            <a:ext cx="3282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Robledo Curazao, Medellín (Cra. 90D con Cl. 76A). Es nuestro mismo sector.</a:t>
            </a:r>
            <a:endParaRPr lang="es-CO" sz="1000"/>
          </a:p>
        </p:txBody>
      </p:sp>
      <p:sp>
        <p:nvSpPr>
          <p:cNvPr id="22" name="Shape 20"/>
          <p:cNvSpPr/>
          <p:nvPr/>
        </p:nvSpPr>
        <p:spPr>
          <a:xfrm>
            <a:off x="4023360" y="1143000"/>
            <a:ext cx="414223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133088" y="1216152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SU EVIDENCIA?</a:t>
            </a:r>
            <a:endParaRPr lang="en-US" sz="1050"/>
          </a:p>
        </p:txBody>
      </p:sp>
      <p:sp>
        <p:nvSpPr>
          <p:cNvPr id="24" name="Text 22"/>
          <p:cNvSpPr txBox="1"/>
          <p:nvPr/>
        </p:nvSpPr>
        <p:spPr>
          <a:xfrm>
            <a:off x="4133088" y="1490472"/>
            <a:ext cx="3922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vecinos reportan basura acumulada y plagas (ratas, cucarachas, zancudos). Algunos sacan las bolsas justo después de que pasa el carro recolector. Hace más de un año se desmontó el programa de contenedores de la zona.</a:t>
            </a:r>
            <a:endParaRPr lang="es-CO" sz="90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566928" y="240487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NUEVAS PREGUNTAS TIENEN?</a:t>
            </a:r>
            <a:endParaRPr lang="en-US" sz="1050"/>
          </a:p>
        </p:txBody>
      </p:sp>
      <p:sp>
        <p:nvSpPr>
          <p:cNvPr id="27" name="Text 25"/>
          <p:cNvSpPr txBox="1"/>
          <p:nvPr/>
        </p:nvSpPr>
        <p:spPr>
          <a:xfrm>
            <a:off x="566928" y="2679192"/>
            <a:ext cx="3282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retiraron los contenedores?</a:t>
            </a:r>
            <a:endParaRPr lang="es-CO" sz="1000"/>
          </a:p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vecinos conocen el horario del carro?</a:t>
            </a:r>
            <a:endParaRPr lang="es-CO" sz="1000"/>
          </a:p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¿Pasa lo mismo en otras cuadras de Robledo?</a:t>
            </a:r>
            <a:endParaRPr lang="es-CO" sz="1000"/>
          </a:p>
        </p:txBody>
      </p:sp>
      <p:sp>
        <p:nvSpPr>
          <p:cNvPr id="28" name="Shape 26"/>
          <p:cNvSpPr/>
          <p:nvPr/>
        </p:nvSpPr>
        <p:spPr>
          <a:xfrm>
            <a:off x="4507992" y="2331720"/>
            <a:ext cx="3172968" cy="2286000"/>
          </a:xfrm>
          <a:prstGeom prst="ellipse">
            <a:avLst/>
          </a:prstGeom>
          <a:solidFill>
            <a:srgbClr val="0A1D4A"/>
          </a:solidFill>
          <a:ln w="12700">
            <a:solidFill>
              <a:srgbClr val="0A1D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4754880" y="256032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B8D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BÁSICA</a:t>
            </a:r>
            <a:endParaRPr lang="en-US" sz="1050"/>
          </a:p>
        </p:txBody>
      </p:sp>
      <p:sp>
        <p:nvSpPr>
          <p:cNvPr id="30" name="Text 28"/>
          <p:cNvSpPr txBox="1"/>
          <p:nvPr/>
        </p:nvSpPr>
        <p:spPr>
          <a:xfrm>
            <a:off x="4846320" y="2852928"/>
            <a:ext cx="2496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Inadecuada disposición de basuras genera plagas y malestar en Robledo Curazao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Minuto30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prensa · 12 may. 2025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Ver enlace (minuto30.com)</a:t>
            </a:r>
            <a:endParaRPr lang="es-CO" sz="1000"/>
          </a:p>
        </p:txBody>
      </p:sp>
      <p:sp>
        <p:nvSpPr>
          <p:cNvPr id="31" name="Shape 29"/>
          <p:cNvSpPr/>
          <p:nvPr/>
        </p:nvSpPr>
        <p:spPr>
          <a:xfrm>
            <a:off x="8229600" y="233172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8339328" y="240487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RELEVANTE?</a:t>
            </a:r>
            <a:endParaRPr lang="en-US" sz="1050"/>
          </a:p>
        </p:txBody>
      </p:sp>
      <p:sp>
        <p:nvSpPr>
          <p:cNvPr id="33" name="Text 31"/>
          <p:cNvSpPr txBox="1"/>
          <p:nvPr/>
        </p:nvSpPr>
        <p:spPr>
          <a:xfrm>
            <a:off x="8339328" y="2679192"/>
            <a:ext cx="3282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comportamiento concreto detrás del punto crítico: el horario y la falta de un punto de acopio. Nos orientó sobre qué observar y qué preguntar.</a:t>
            </a:r>
            <a:endParaRPr lang="es-CO" sz="100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350215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 txBox="1"/>
          <p:nvPr/>
        </p:nvSpPr>
        <p:spPr>
          <a:xfrm>
            <a:off x="566928" y="48737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 VERIFICAMOS?</a:t>
            </a:r>
            <a:endParaRPr lang="en-US" sz="1050"/>
          </a:p>
        </p:txBody>
      </p:sp>
      <p:sp>
        <p:nvSpPr>
          <p:cNvPr id="36" name="Text 34"/>
          <p:cNvSpPr txBox="1"/>
          <p:nvPr/>
        </p:nvSpPr>
        <p:spPr>
          <a:xfrm>
            <a:off x="566928" y="514807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oficial. La contrastamos con la observación y con las entrevistas al residente y al celador.</a:t>
            </a:r>
            <a:endParaRPr lang="es-CO" sz="1000"/>
          </a:p>
        </p:txBody>
      </p:sp>
      <p:sp>
        <p:nvSpPr>
          <p:cNvPr id="37" name="Shape 35"/>
          <p:cNvSpPr/>
          <p:nvPr/>
        </p:nvSpPr>
        <p:spPr>
          <a:xfrm>
            <a:off x="4023360" y="4800600"/>
            <a:ext cx="414223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4133088" y="4873752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MÁS SORPRENDENTE?</a:t>
            </a:r>
            <a:endParaRPr lang="en-US" sz="1050"/>
          </a:p>
        </p:txBody>
      </p:sp>
      <p:sp>
        <p:nvSpPr>
          <p:cNvPr id="39" name="Text 37"/>
          <p:cNvSpPr txBox="1"/>
          <p:nvPr/>
        </p:nvSpPr>
        <p:spPr>
          <a:xfrm>
            <a:off x="4133088" y="5148072"/>
            <a:ext cx="3922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los contenedores no eliminó la basura: la llevó al andén.</a:t>
            </a:r>
            <a:endParaRPr lang="es-CO" sz="1000"/>
          </a:p>
        </p:txBody>
      </p:sp>
      <p:sp>
        <p:nvSpPr>
          <p:cNvPr id="40" name="Shape 38"/>
          <p:cNvSpPr/>
          <p:nvPr/>
        </p:nvSpPr>
        <p:spPr>
          <a:xfrm>
            <a:off x="8229600" y="4800600"/>
            <a:ext cx="350215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 txBox="1"/>
          <p:nvPr/>
        </p:nvSpPr>
        <p:spPr>
          <a:xfrm>
            <a:off x="8339328" y="48737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</a:t>
            </a:r>
            <a:endParaRPr lang="en-US" sz="1050"/>
          </a:p>
        </p:txBody>
      </p:sp>
      <p:sp>
        <p:nvSpPr>
          <p:cNvPr id="42" name="Text 40"/>
          <p:cNvSpPr txBox="1"/>
          <p:nvPr/>
        </p:nvSpPr>
        <p:spPr>
          <a:xfrm>
            <a:off x="8339328" y="514807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☒ Aporta mucho   ☐ Aporta poco</a:t>
            </a:r>
            <a:endParaRPr lang="es-CO" sz="1000"/>
          </a:p>
          <a:p>
            <a:pPr marL="0" indent="0">
              <a:buNone/>
            </a:pPr>
            <a:r>
              <a:rPr lang="es-CO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</a:t>
            </a: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del sector y da una pista concreta, aunque hay que validarla en campo.</a:t>
            </a:r>
            <a:endParaRPr lang="es-CO" sz="100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66928" cy="566928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1170432" y="246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consulta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por fuente. Si alguna respuesta es débil, la fuente probablemente aporta poco.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35240" y="27432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26680" y="320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7726680" y="5212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08</a:t>
            </a:r>
            <a:endParaRPr lang="es-CO" sz="1100"/>
          </a:p>
        </p:txBody>
      </p:sp>
      <p:sp>
        <p:nvSpPr>
          <p:cNvPr id="9" name="Shape 7"/>
          <p:cNvSpPr/>
          <p:nvPr/>
        </p:nvSpPr>
        <p:spPr>
          <a:xfrm>
            <a:off x="9445752" y="27432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537192" y="320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Y CIUDAD DE VALIDACIÓN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9537192" y="521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ODS 11 · Residuos y espacio público · Medellín, Robledo</a:t>
            </a:r>
            <a:endParaRPr lang="es-CO" sz="900"/>
          </a:p>
        </p:txBody>
      </p:sp>
      <p:sp>
        <p:nvSpPr>
          <p:cNvPr id="12" name="Shape 10"/>
          <p:cNvSpPr/>
          <p:nvPr/>
        </p:nvSpPr>
        <p:spPr>
          <a:xfrm>
            <a:off x="3959352" y="3474720"/>
            <a:ext cx="548640" cy="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680960" y="3474720"/>
            <a:ext cx="548640" cy="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094476" y="2148840"/>
            <a:ext cx="0" cy="18288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94476" y="4617720"/>
            <a:ext cx="0" cy="18288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57200" y="1143000"/>
            <a:ext cx="350215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566928" y="12161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N.º</a:t>
            </a:r>
            <a:endParaRPr lang="en-US" sz="1050"/>
          </a:p>
        </p:txBody>
      </p:sp>
      <p:sp>
        <p:nvSpPr>
          <p:cNvPr id="18" name="Text 16"/>
          <p:cNvSpPr txBox="1"/>
          <p:nvPr/>
        </p:nvSpPr>
        <p:spPr>
          <a:xfrm>
            <a:off x="566928" y="1490472"/>
            <a:ext cx="3282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O" sz="1100"/>
          </a:p>
        </p:txBody>
      </p:sp>
      <p:sp>
        <p:nvSpPr>
          <p:cNvPr id="19" name="Shape 17"/>
          <p:cNvSpPr/>
          <p:nvPr/>
        </p:nvSpPr>
        <p:spPr>
          <a:xfrm>
            <a:off x="8229600" y="1143000"/>
            <a:ext cx="350215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8339328" y="12161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O TERRITORIO DE LOS DATOS</a:t>
            </a:r>
            <a:endParaRPr lang="en-US" sz="1050"/>
          </a:p>
        </p:txBody>
      </p:sp>
      <p:sp>
        <p:nvSpPr>
          <p:cNvPr id="21" name="Text 19"/>
          <p:cNvSpPr txBox="1"/>
          <p:nvPr/>
        </p:nvSpPr>
        <p:spPr>
          <a:xfrm>
            <a:off x="8339328" y="1490472"/>
            <a:ext cx="3282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Medellín, Colombia (toda la ciudad). Sirve como línea base para Robledo.</a:t>
            </a:r>
            <a:endParaRPr lang="es-CO" sz="1000"/>
          </a:p>
        </p:txBody>
      </p:sp>
      <p:sp>
        <p:nvSpPr>
          <p:cNvPr id="22" name="Shape 20"/>
          <p:cNvSpPr/>
          <p:nvPr/>
        </p:nvSpPr>
        <p:spPr>
          <a:xfrm>
            <a:off x="4023360" y="1143000"/>
            <a:ext cx="414223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133088" y="1216152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SU EVIDENCIA?</a:t>
            </a:r>
            <a:endParaRPr lang="en-US" sz="1050"/>
          </a:p>
        </p:txBody>
      </p:sp>
      <p:sp>
        <p:nvSpPr>
          <p:cNvPr id="24" name="Text 22"/>
          <p:cNvSpPr txBox="1"/>
          <p:nvPr/>
        </p:nvSpPr>
        <p:spPr>
          <a:xfrm>
            <a:off x="4133088" y="1490472"/>
            <a:ext cx="3922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29 % de los residuos se aprovecha; 683.257 toneladas van al relleno sanitario. Hay 5.520 recicladores acompañados y 25 empresas de recicladores de oficio. Separación: bolsa blanca (reciclables), verde (orgánicos) y negra (ordinarios).</a:t>
            </a:r>
            <a:endParaRPr lang="es-CO" sz="90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566928" y="240487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NUEVAS PREGUNTAS TIENEN?</a:t>
            </a:r>
            <a:endParaRPr lang="en-US" sz="1050"/>
          </a:p>
        </p:txBody>
      </p:sp>
      <p:sp>
        <p:nvSpPr>
          <p:cNvPr id="27" name="Text 25"/>
          <p:cNvSpPr txBox="1"/>
          <p:nvPr/>
        </p:nvSpPr>
        <p:spPr>
          <a:xfrm>
            <a:off x="566928" y="2679192"/>
            <a:ext cx="3282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se aprovecha en Robledo?</a:t>
            </a:r>
            <a:endParaRPr lang="es-CO" sz="1000"/>
          </a:p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recicladores trabajan en el sector y con qué organización?</a:t>
            </a:r>
            <a:endParaRPr lang="es-CO" sz="1000"/>
          </a:p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gente conoce el código de colores de las bolsas?</a:t>
            </a:r>
            <a:endParaRPr lang="es-CO" sz="1000"/>
          </a:p>
        </p:txBody>
      </p:sp>
      <p:sp>
        <p:nvSpPr>
          <p:cNvPr id="28" name="Shape 26"/>
          <p:cNvSpPr/>
          <p:nvPr/>
        </p:nvSpPr>
        <p:spPr>
          <a:xfrm>
            <a:off x="4507992" y="2331720"/>
            <a:ext cx="3172968" cy="2286000"/>
          </a:xfrm>
          <a:prstGeom prst="ellipse">
            <a:avLst/>
          </a:prstGeom>
          <a:solidFill>
            <a:srgbClr val="0A1D4A"/>
          </a:solidFill>
          <a:ln w="12700">
            <a:solidFill>
              <a:srgbClr val="0A1D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4754880" y="256032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B8D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BÁSICA</a:t>
            </a:r>
            <a:endParaRPr lang="en-US" sz="1050"/>
          </a:p>
        </p:txBody>
      </p:sp>
      <p:sp>
        <p:nvSpPr>
          <p:cNvPr id="30" name="Text 28"/>
          <p:cNvSpPr txBox="1"/>
          <p:nvPr/>
        </p:nvSpPr>
        <p:spPr>
          <a:xfrm>
            <a:off x="4846320" y="2852928"/>
            <a:ext cx="2496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¿Sabes cómo se gestionan los residuos sólidos en Medellín?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 de Medellín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 oficial · 5 dic. 2024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Ver enlace (medellin.gov.co)</a:t>
            </a:r>
            <a:endParaRPr lang="es-CO" sz="1000"/>
          </a:p>
        </p:txBody>
      </p:sp>
      <p:sp>
        <p:nvSpPr>
          <p:cNvPr id="31" name="Shape 29"/>
          <p:cNvSpPr/>
          <p:nvPr/>
        </p:nvSpPr>
        <p:spPr>
          <a:xfrm>
            <a:off x="8229600" y="233172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8339328" y="240487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RELEVANTE?</a:t>
            </a:r>
            <a:endParaRPr lang="en-US" sz="1050"/>
          </a:p>
        </p:txBody>
      </p:sp>
      <p:sp>
        <p:nvSpPr>
          <p:cNvPr id="33" name="Text 31"/>
          <p:cNvSpPr txBox="1"/>
          <p:nvPr/>
        </p:nvSpPr>
        <p:spPr>
          <a:xfrm>
            <a:off x="8339328" y="2679192"/>
            <a:ext cx="3282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la línea base para medir «más material para recicladores» y la regla de colores que usará nuestra solución.</a:t>
            </a:r>
            <a:endParaRPr lang="es-CO" sz="100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350215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 txBox="1"/>
          <p:nvPr/>
        </p:nvSpPr>
        <p:spPr>
          <a:xfrm>
            <a:off x="566928" y="48737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 VERIFICAMOS?</a:t>
            </a:r>
            <a:endParaRPr lang="en-US" sz="1050"/>
          </a:p>
        </p:txBody>
      </p:sp>
      <p:sp>
        <p:nvSpPr>
          <p:cNvPr id="36" name="Text 34"/>
          <p:cNvSpPr txBox="1"/>
          <p:nvPr/>
        </p:nvSpPr>
        <p:spPr>
          <a:xfrm>
            <a:off x="566928" y="514807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oficial. Contrastamos el porcentaje con el dato nacional del documento del reto: en Colombia se aprovechó el 20 % en 2024.</a:t>
            </a:r>
            <a:endParaRPr lang="es-CO" sz="1000"/>
          </a:p>
        </p:txBody>
      </p:sp>
      <p:sp>
        <p:nvSpPr>
          <p:cNvPr id="37" name="Shape 35"/>
          <p:cNvSpPr/>
          <p:nvPr/>
        </p:nvSpPr>
        <p:spPr>
          <a:xfrm>
            <a:off x="4023360" y="4800600"/>
            <a:ext cx="414223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4133088" y="4873752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MÁS SORPRENDENTE?</a:t>
            </a:r>
            <a:endParaRPr lang="en-US" sz="1050"/>
          </a:p>
        </p:txBody>
      </p:sp>
      <p:sp>
        <p:nvSpPr>
          <p:cNvPr id="39" name="Text 37"/>
          <p:cNvSpPr txBox="1"/>
          <p:nvPr/>
        </p:nvSpPr>
        <p:spPr>
          <a:xfrm>
            <a:off x="4133088" y="5148072"/>
            <a:ext cx="3922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aprovecha más que el promedio nacional (29 % frente a 20 %), pero más de 7 de cada 10 partes siguen yendo al relleno.</a:t>
            </a:r>
            <a:endParaRPr lang="es-CO" sz="1000"/>
          </a:p>
        </p:txBody>
      </p:sp>
      <p:sp>
        <p:nvSpPr>
          <p:cNvPr id="40" name="Shape 38"/>
          <p:cNvSpPr/>
          <p:nvPr/>
        </p:nvSpPr>
        <p:spPr>
          <a:xfrm>
            <a:off x="8229600" y="4800600"/>
            <a:ext cx="350215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 txBox="1"/>
          <p:nvPr/>
        </p:nvSpPr>
        <p:spPr>
          <a:xfrm>
            <a:off x="8339328" y="48737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</a:t>
            </a:r>
            <a:endParaRPr lang="en-US" sz="1050"/>
          </a:p>
        </p:txBody>
      </p:sp>
      <p:sp>
        <p:nvSpPr>
          <p:cNvPr id="42" name="Text 40"/>
          <p:cNvSpPr txBox="1"/>
          <p:nvPr/>
        </p:nvSpPr>
        <p:spPr>
          <a:xfrm>
            <a:off x="8339328" y="514807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☒ Aporta mucho   ☐ Aporta poco</a:t>
            </a:r>
            <a:endParaRPr lang="es-CO" sz="1000"/>
          </a:p>
          <a:p>
            <a:pPr marL="0" indent="0">
              <a:buNone/>
            </a:pPr>
            <a:r>
              <a:rPr lang="es-CO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</a:t>
            </a: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oficial y da cifras que podemos usar como meta.</a:t>
            </a:r>
            <a:endParaRPr lang="es-CO" sz="100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566928" cy="566928"/>
          </a:xfrm>
          <a:prstGeom prst="ellipse">
            <a:avLst/>
          </a:prstGeom>
          <a:solidFill>
            <a:srgbClr val="B8DC0E"/>
          </a:solidFill>
          <a:ln w="12700">
            <a:solidFill>
              <a:srgbClr val="B8DC0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1170432" y="246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consulta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por fuente. Si alguna respuesta es débil, la fuente probablemente aporta poco.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7635240" y="274320"/>
            <a:ext cx="169164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 txBox="1"/>
          <p:nvPr/>
        </p:nvSpPr>
        <p:spPr>
          <a:xfrm>
            <a:off x="7726680" y="320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900"/>
          </a:p>
        </p:txBody>
      </p:sp>
      <p:sp>
        <p:nvSpPr>
          <p:cNvPr id="8" name="Text 6"/>
          <p:cNvSpPr txBox="1"/>
          <p:nvPr/>
        </p:nvSpPr>
        <p:spPr>
          <a:xfrm>
            <a:off x="7726680" y="5212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08</a:t>
            </a:r>
            <a:endParaRPr lang="es-CO" sz="1100"/>
          </a:p>
        </p:txBody>
      </p:sp>
      <p:sp>
        <p:nvSpPr>
          <p:cNvPr id="9" name="Shape 7"/>
          <p:cNvSpPr/>
          <p:nvPr/>
        </p:nvSpPr>
        <p:spPr>
          <a:xfrm>
            <a:off x="9445752" y="27432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 txBox="1"/>
          <p:nvPr/>
        </p:nvSpPr>
        <p:spPr>
          <a:xfrm>
            <a:off x="9537192" y="3200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Y CIUDAD DE VALIDACIÓN</a:t>
            </a:r>
            <a:endParaRPr lang="en-US" sz="900"/>
          </a:p>
        </p:txBody>
      </p:sp>
      <p:sp>
        <p:nvSpPr>
          <p:cNvPr id="11" name="Text 9"/>
          <p:cNvSpPr txBox="1"/>
          <p:nvPr/>
        </p:nvSpPr>
        <p:spPr>
          <a:xfrm>
            <a:off x="9537192" y="521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ODS 11 · Residuos y espacio público · Medellín, Robledo</a:t>
            </a:r>
            <a:endParaRPr lang="es-CO" sz="900"/>
          </a:p>
        </p:txBody>
      </p:sp>
      <p:sp>
        <p:nvSpPr>
          <p:cNvPr id="12" name="Shape 10"/>
          <p:cNvSpPr/>
          <p:nvPr/>
        </p:nvSpPr>
        <p:spPr>
          <a:xfrm>
            <a:off x="3959352" y="3474720"/>
            <a:ext cx="548640" cy="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680960" y="3474720"/>
            <a:ext cx="548640" cy="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094476" y="2148840"/>
            <a:ext cx="0" cy="18288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94476" y="4617720"/>
            <a:ext cx="0" cy="182880"/>
          </a:xfrm>
          <a:prstGeom prst="line">
            <a:avLst/>
          </a:prstGeom>
          <a:noFill/>
          <a:ln w="15875">
            <a:solidFill>
              <a:srgbClr val="C8D3E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57200" y="1143000"/>
            <a:ext cx="350215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 txBox="1"/>
          <p:nvPr/>
        </p:nvSpPr>
        <p:spPr>
          <a:xfrm>
            <a:off x="566928" y="12161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N.º</a:t>
            </a:r>
            <a:endParaRPr lang="en-US" sz="1050"/>
          </a:p>
        </p:txBody>
      </p:sp>
      <p:sp>
        <p:nvSpPr>
          <p:cNvPr id="18" name="Text 16"/>
          <p:cNvSpPr txBox="1"/>
          <p:nvPr/>
        </p:nvSpPr>
        <p:spPr>
          <a:xfrm>
            <a:off x="566928" y="1490472"/>
            <a:ext cx="3282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O" sz="1100"/>
          </a:p>
        </p:txBody>
      </p:sp>
      <p:sp>
        <p:nvSpPr>
          <p:cNvPr id="19" name="Shape 17"/>
          <p:cNvSpPr/>
          <p:nvPr/>
        </p:nvSpPr>
        <p:spPr>
          <a:xfrm>
            <a:off x="8229600" y="1143000"/>
            <a:ext cx="350215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 txBox="1"/>
          <p:nvPr/>
        </p:nvSpPr>
        <p:spPr>
          <a:xfrm>
            <a:off x="8339328" y="12161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O TERRITORIO DE LOS DATOS</a:t>
            </a:r>
            <a:endParaRPr lang="en-US" sz="1050"/>
          </a:p>
        </p:txBody>
      </p:sp>
      <p:sp>
        <p:nvSpPr>
          <p:cNvPr id="21" name="Text 19"/>
          <p:cNvSpPr txBox="1"/>
          <p:nvPr/>
        </p:nvSpPr>
        <p:spPr>
          <a:xfrm>
            <a:off x="8339328" y="1490472"/>
            <a:ext cx="32826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(La Ladera, comuna 8). No es Robledo, pero la estrategia aplica a toda la ciudad.</a:t>
            </a:r>
            <a:endParaRPr lang="es-CO" sz="1000"/>
          </a:p>
        </p:txBody>
      </p:sp>
      <p:sp>
        <p:nvSpPr>
          <p:cNvPr id="22" name="Shape 20"/>
          <p:cNvSpPr/>
          <p:nvPr/>
        </p:nvSpPr>
        <p:spPr>
          <a:xfrm>
            <a:off x="4023360" y="1143000"/>
            <a:ext cx="4142232" cy="1005840"/>
          </a:xfrm>
          <a:prstGeom prst="roundRect">
            <a:avLst>
              <a:gd name="adj" fmla="val 5455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 txBox="1"/>
          <p:nvPr/>
        </p:nvSpPr>
        <p:spPr>
          <a:xfrm>
            <a:off x="4133088" y="1216152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SU EVIDENCIA?</a:t>
            </a:r>
            <a:endParaRPr lang="en-US" sz="1050"/>
          </a:p>
        </p:txBody>
      </p:sp>
      <p:sp>
        <p:nvSpPr>
          <p:cNvPr id="24" name="Text 22"/>
          <p:cNvSpPr txBox="1"/>
          <p:nvPr/>
        </p:nvSpPr>
        <p:spPr>
          <a:xfrm>
            <a:off x="4133088" y="1490472"/>
            <a:ext cx="3922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2024 se han intervenido unos 146 puntos críticos: solo 7 están «graduados» y 41 en proceso. Estrategia «Mi M2»: 309.025 m² de espacio público recuperado, 81 jornadas de limpieza y 2.778 actividades de sensibilización.</a:t>
            </a:r>
            <a:endParaRPr lang="es-CO" sz="90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 txBox="1"/>
          <p:nvPr/>
        </p:nvSpPr>
        <p:spPr>
          <a:xfrm>
            <a:off x="566928" y="240487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NUEVAS PREGUNTAS TIENEN?</a:t>
            </a:r>
            <a:endParaRPr lang="en-US" sz="1050"/>
          </a:p>
        </p:txBody>
      </p:sp>
      <p:sp>
        <p:nvSpPr>
          <p:cNvPr id="27" name="Text 25"/>
          <p:cNvSpPr txBox="1"/>
          <p:nvPr/>
        </p:nvSpPr>
        <p:spPr>
          <a:xfrm>
            <a:off x="566928" y="2679192"/>
            <a:ext cx="3282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solo 7 de 146 puntos se gradúan?</a:t>
            </a:r>
            <a:endParaRPr lang="es-CO" sz="1000"/>
          </a:p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tienen en común los que se sostienen?</a:t>
            </a:r>
            <a:endParaRPr lang="es-CO" sz="1000"/>
          </a:p>
          <a:p>
            <a:pPr marL="114300" indent="-114300">
              <a:buFont typeface="Arial"/>
              <a:buChar char="•"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algún punto de Robledo en proceso?</a:t>
            </a:r>
            <a:endParaRPr lang="es-CO" sz="1000"/>
          </a:p>
        </p:txBody>
      </p:sp>
      <p:sp>
        <p:nvSpPr>
          <p:cNvPr id="28" name="Shape 26"/>
          <p:cNvSpPr/>
          <p:nvPr/>
        </p:nvSpPr>
        <p:spPr>
          <a:xfrm>
            <a:off x="4507992" y="2331720"/>
            <a:ext cx="3172968" cy="2286000"/>
          </a:xfrm>
          <a:prstGeom prst="ellipse">
            <a:avLst/>
          </a:prstGeom>
          <a:solidFill>
            <a:srgbClr val="0A1D4A"/>
          </a:solidFill>
          <a:ln w="12700">
            <a:solidFill>
              <a:srgbClr val="0A1D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 txBox="1"/>
          <p:nvPr/>
        </p:nvSpPr>
        <p:spPr>
          <a:xfrm>
            <a:off x="4754880" y="256032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B8D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BÁSICA</a:t>
            </a:r>
            <a:endParaRPr lang="en-US" sz="1050"/>
          </a:p>
        </p:txBody>
      </p:sp>
      <p:sp>
        <p:nvSpPr>
          <p:cNvPr id="30" name="Text 28"/>
          <p:cNvSpPr txBox="1"/>
          <p:nvPr/>
        </p:nvSpPr>
        <p:spPr>
          <a:xfrm>
            <a:off x="4846320" y="2852928"/>
            <a:ext cx="2496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s-CO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graduó su primer punto crítico de residuos de 2026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 de Medellín · Secretaría de Medio Ambiente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 oficial · 25 feb. 2026</a:t>
            </a:r>
            <a:endParaRPr lang="es-CO" sz="1000"/>
          </a:p>
          <a:p>
            <a:pPr marL="0" indent="0" algn="ctr">
              <a:buNone/>
            </a:pPr>
            <a:r>
              <a:rPr lang="es-CO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Ver enlace (medellin.gov.co)</a:t>
            </a:r>
            <a:endParaRPr lang="es-CO" sz="1000"/>
          </a:p>
        </p:txBody>
      </p:sp>
      <p:sp>
        <p:nvSpPr>
          <p:cNvPr id="31" name="Shape 29"/>
          <p:cNvSpPr/>
          <p:nvPr/>
        </p:nvSpPr>
        <p:spPr>
          <a:xfrm>
            <a:off x="8229600" y="2331720"/>
            <a:ext cx="3502152" cy="2286000"/>
          </a:xfrm>
          <a:prstGeom prst="roundRect">
            <a:avLst>
              <a:gd name="adj" fmla="val 2400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 txBox="1"/>
          <p:nvPr/>
        </p:nvSpPr>
        <p:spPr>
          <a:xfrm>
            <a:off x="8339328" y="240487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RELEVANTE?</a:t>
            </a:r>
            <a:endParaRPr lang="en-US" sz="1050"/>
          </a:p>
        </p:txBody>
      </p:sp>
      <p:sp>
        <p:nvSpPr>
          <p:cNvPr id="33" name="Text 31"/>
          <p:cNvSpPr txBox="1"/>
          <p:nvPr/>
        </p:nvSpPr>
        <p:spPr>
          <a:xfrm>
            <a:off x="8339328" y="2679192"/>
            <a:ext cx="3282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residuos y espacio público, los dos ejes de nuestro enfoque, y muestra que el reto es sostener el cambio después de la limpieza.</a:t>
            </a:r>
            <a:endParaRPr lang="es-CO" sz="100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350215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 txBox="1"/>
          <p:nvPr/>
        </p:nvSpPr>
        <p:spPr>
          <a:xfrm>
            <a:off x="566928" y="48737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 VERIFICAMOS?</a:t>
            </a:r>
            <a:endParaRPr lang="en-US" sz="1050"/>
          </a:p>
        </p:txBody>
      </p:sp>
      <p:sp>
        <p:nvSpPr>
          <p:cNvPr id="36" name="Text 34"/>
          <p:cNvSpPr txBox="1"/>
          <p:nvPr/>
        </p:nvSpPr>
        <p:spPr>
          <a:xfrm>
            <a:off x="566928" y="514807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oficial. La contrastamos con El Colombiano (2022), donde el gerente de Emvarias dijo que los puntos limpiados «al poco tiempo vuelven» a llenarse de basura.</a:t>
            </a:r>
            <a:endParaRPr lang="es-CO" sz="1000"/>
          </a:p>
        </p:txBody>
      </p:sp>
      <p:sp>
        <p:nvSpPr>
          <p:cNvPr id="37" name="Shape 35"/>
          <p:cNvSpPr/>
          <p:nvPr/>
        </p:nvSpPr>
        <p:spPr>
          <a:xfrm>
            <a:off x="4023360" y="4800600"/>
            <a:ext cx="414223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 txBox="1"/>
          <p:nvPr/>
        </p:nvSpPr>
        <p:spPr>
          <a:xfrm>
            <a:off x="4133088" y="4873752"/>
            <a:ext cx="3922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MÁS SORPRENDENTE?</a:t>
            </a:r>
            <a:endParaRPr lang="en-US" sz="1050"/>
          </a:p>
        </p:txBody>
      </p:sp>
      <p:sp>
        <p:nvSpPr>
          <p:cNvPr id="39" name="Text 37"/>
          <p:cNvSpPr txBox="1"/>
          <p:nvPr/>
        </p:nvSpPr>
        <p:spPr>
          <a:xfrm>
            <a:off x="4133088" y="5148072"/>
            <a:ext cx="3922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cerca del 5 % de los puntos intervenidos se ha graduado. Limpiar no basta.</a:t>
            </a:r>
            <a:endParaRPr lang="es-CO" sz="1000"/>
          </a:p>
        </p:txBody>
      </p:sp>
      <p:sp>
        <p:nvSpPr>
          <p:cNvPr id="40" name="Shape 38"/>
          <p:cNvSpPr/>
          <p:nvPr/>
        </p:nvSpPr>
        <p:spPr>
          <a:xfrm>
            <a:off x="8229600" y="4800600"/>
            <a:ext cx="3502152" cy="1472184"/>
          </a:xfrm>
          <a:prstGeom prst="roundRect">
            <a:avLst>
              <a:gd name="adj" fmla="val 3727"/>
            </a:avLst>
          </a:prstGeom>
          <a:solidFill>
            <a:srgbClr val="F4F7FC"/>
          </a:solidFill>
          <a:ln w="12700">
            <a:solidFill>
              <a:srgbClr val="C8D3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 txBox="1"/>
          <p:nvPr/>
        </p:nvSpPr>
        <p:spPr>
          <a:xfrm>
            <a:off x="8339328" y="4873752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255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</a:t>
            </a:r>
            <a:endParaRPr lang="en-US" sz="1050"/>
          </a:p>
        </p:txBody>
      </p:sp>
      <p:sp>
        <p:nvSpPr>
          <p:cNvPr id="42" name="Text 40"/>
          <p:cNvSpPr txBox="1"/>
          <p:nvPr/>
        </p:nvSpPr>
        <p:spPr>
          <a:xfrm>
            <a:off x="8339328" y="5148072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☒ Aporta mucho   ☐ Aporta poco</a:t>
            </a:r>
            <a:endParaRPr lang="es-CO" sz="1000"/>
          </a:p>
          <a:p>
            <a:pPr marL="0" indent="0">
              <a:buNone/>
            </a:pPr>
            <a:r>
              <a:rPr lang="es-CO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</a:t>
            </a:r>
            <a:r>
              <a:rPr lang="es-CO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oficial y justifica la oportunidad de nuestro reto.</a:t>
            </a:r>
            <a:endParaRPr lang="es-CO" sz="100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64040" y="648309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8DC0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338A2DF8BF5634585C143A65DE36F97" ma:contentTypeVersion="7" ma:contentTypeDescription="Crear nuevo documento." ma:contentTypeScope="" ma:versionID="fa98356796f1b2bd2690b0a6df2de91c">
  <xsd:schema xmlns:xsd="http://www.w3.org/2001/XMLSchema" xmlns:xs="http://www.w3.org/2001/XMLSchema" xmlns:p="http://schemas.microsoft.com/office/2006/metadata/properties" xmlns:ns2="6d154cc3-f26b-4771-bcfe-6a354b05b084" targetNamespace="http://schemas.microsoft.com/office/2006/metadata/properties" ma:root="true" ma:fieldsID="985c21c8624f49879456639692593b48" ns2:_="">
    <xsd:import namespace="6d154cc3-f26b-4771-bcfe-6a354b05b0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54cc3-f26b-4771-bcfe-6a354b05b0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72044E-C230-4E3C-915C-18774EDEE3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77209D-15D2-4CD4-8587-C2017E1F5D7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EAB9665-4017-4BF0-99A7-1400A593D2D9}">
  <ds:schemaRefs>
    <ds:schemaRef ds:uri="6d154cc3-f26b-4771-bcfe-6a354b05b08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GENIA · Explora la situación</dc:title>
  <dc:subject>PptxGenJS Presentation</dc:subject>
  <dc:creator>Hackatón EISI 2026</dc:creator>
  <cp:revision>92</cp:revision>
  <dcterms:created xsi:type="dcterms:W3CDTF">2026-10-29T05:02:46Z</dcterms:created>
  <dcterms:modified xsi:type="dcterms:W3CDTF">2026-10-29T19:43:44Z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0x010100D338A2DF8BF5634585C143A65DE36F97</vt:lpwstr>
  </property>
</Properties>
</file>