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8"/>
  </p:notesMasterIdLst>
  <p:sldIdLst>
    <p:sldId id="256" r:id="rId5"/>
    <p:sldId id="257" r:id="rId6"/>
    <p:sldId id="258" r:id="rId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348" dt="2026-10-29T15:35:42.425"/>
    <p1510:client id="{3C6C99DD-926C-EDD6-345A-232420056D08}" v="7" dt="2026-10-29T15:15:05.128"/>
    <p1510:client id="{84B8017F-D366-61CC-4B55-49BD0CB19061}" v="14" dt="2026-10-29T15:11:47.188"/>
    <p1510:client id="{ED56BDCE-74C5-4BB2-56F9-ECC8DA739F23}" v="2" dt="2026-10-29T15:02:51.938"/>
    <p1510:client id="{FAA5AEA6-4B12-49F4-0694-32B586403793}" v="3" dt="2026-10-29T15:30:41.45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 Id="rId13" Type="http://schemas.microsoft.com/office/2016/11/relationships/changesInfo" Target="changesInfos/changesInfo1.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vana Danila Polo Ocampo" userId="S::ivana.polo@correo.tdea.edu.co::b8ba075a-84d1-41eb-8c16-708f2aa130f9" providerId="AD" clId="Web-{FAA5AEA6-4B12-49F4-0694-32B586403793}"/>
    <pc:docChg chg="modSld">
      <pc:chgData name="Ivana Danila Polo Ocampo" userId="S::ivana.polo@correo.tdea.edu.co::b8ba075a-84d1-41eb-8c16-708f2aa130f9" providerId="AD" clId="Web-{FAA5AEA6-4B12-49F4-0694-32B586403793}" dt="2026-10-29T15:30:41.451" v="2" actId="20577"/>
      <pc:docMkLst>
        <pc:docMk/>
      </pc:docMkLst>
      <pc:sldChg chg="modSp">
        <pc:chgData name="Ivana Danila Polo Ocampo" userId="S::ivana.polo@correo.tdea.edu.co::b8ba075a-84d1-41eb-8c16-708f2aa130f9" providerId="AD" clId="Web-{FAA5AEA6-4B12-49F4-0694-32B586403793}" dt="2026-10-29T15:30:41.451" v="2" actId="20577"/>
        <pc:sldMkLst>
          <pc:docMk/>
          <pc:sldMk cId="0" sldId="256"/>
        </pc:sldMkLst>
        <pc:spChg chg="mod">
          <ac:chgData name="Ivana Danila Polo Ocampo" userId="S::ivana.polo@correo.tdea.edu.co::b8ba075a-84d1-41eb-8c16-708f2aa130f9" providerId="AD" clId="Web-{FAA5AEA6-4B12-49F4-0694-32B586403793}" dt="2026-10-29T15:30:41.451" v="2" actId="20577"/>
          <ac:spMkLst>
            <pc:docMk/>
            <pc:sldMk cId="0" sldId="256"/>
            <ac:spMk id="5" creationId="{00000000-0000-0000-0000-000000000000}"/>
          </ac:spMkLst>
        </pc:spChg>
      </pc:sldChg>
    </pc:docChg>
  </pc:docChgLst>
  <pc:docChgLst>
    <pc:chgData name="Yeison Esneider Rodriguez Correa" userId="S::yeison.rodriguez76@correo.tdea.edu.co::7bf291a1-4d1e-425a-92a1-a88ceb58c555" providerId="AD" clId="Web-{84B8017F-D366-61CC-4B55-49BD0CB19061}"/>
    <pc:docChg chg="modSld">
      <pc:chgData name="Yeison Esneider Rodriguez Correa" userId="S::yeison.rodriguez76@correo.tdea.edu.co::7bf291a1-4d1e-425a-92a1-a88ceb58c555" providerId="AD" clId="Web-{84B8017F-D366-61CC-4B55-49BD0CB19061}" dt="2026-10-29T15:11:47.188" v="13"/>
      <pc:docMkLst>
        <pc:docMk/>
      </pc:docMkLst>
      <pc:sldChg chg="delSp modSp">
        <pc:chgData name="Yeison Esneider Rodriguez Correa" userId="S::yeison.rodriguez76@correo.tdea.edu.co::7bf291a1-4d1e-425a-92a1-a88ceb58c555" providerId="AD" clId="Web-{84B8017F-D366-61CC-4B55-49BD0CB19061}" dt="2026-10-29T15:11:47.188" v="13"/>
        <pc:sldMkLst>
          <pc:docMk/>
          <pc:sldMk cId="0" sldId="257"/>
        </pc:sldMkLst>
        <pc:spChg chg="del mod">
          <ac:chgData name="Yeison Esneider Rodriguez Correa" userId="S::yeison.rodriguez76@correo.tdea.edu.co::7bf291a1-4d1e-425a-92a1-a88ceb58c555" providerId="AD" clId="Web-{84B8017F-D366-61CC-4B55-49BD0CB19061}" dt="2026-10-29T15:11:47.188" v="13"/>
          <ac:spMkLst>
            <pc:docMk/>
            <pc:sldMk cId="0" sldId="257"/>
            <ac:spMk id="8" creationId="{00000000-0000-0000-0000-000000000000}"/>
          </ac:spMkLst>
        </pc:spChg>
      </pc:sldChg>
    </pc:docChg>
  </pc:docChgLst>
  <pc:docChgLst>
    <pc:chgData name="Sebastian  Cataño Gomez" userId="S::sebastian.catano44@correo.tdea.edu.co::d6183cc0-ca36-4b54-b52c-180131a4d3ed" providerId="AD" clId="Web-{3C6C99DD-926C-EDD6-345A-232420056D08}"/>
    <pc:docChg chg="modSld">
      <pc:chgData name="Sebastian  Cataño Gomez" userId="S::sebastian.catano44@correo.tdea.edu.co::d6183cc0-ca36-4b54-b52c-180131a4d3ed" providerId="AD" clId="Web-{3C6C99DD-926C-EDD6-345A-232420056D08}" dt="2026-10-29T15:15:01.581" v="5" actId="20577"/>
      <pc:docMkLst>
        <pc:docMk/>
      </pc:docMkLst>
      <pc:sldChg chg="modSp">
        <pc:chgData name="Sebastian  Cataño Gomez" userId="S::sebastian.catano44@correo.tdea.edu.co::d6183cc0-ca36-4b54-b52c-180131a4d3ed" providerId="AD" clId="Web-{3C6C99DD-926C-EDD6-345A-232420056D08}" dt="2026-10-29T15:15:01.581" v="5" actId="20577"/>
        <pc:sldMkLst>
          <pc:docMk/>
          <pc:sldMk cId="0" sldId="257"/>
        </pc:sldMkLst>
        <pc:spChg chg="mod">
          <ac:chgData name="Sebastian  Cataño Gomez" userId="S::sebastian.catano44@correo.tdea.edu.co::d6183cc0-ca36-4b54-b52c-180131a4d3ed" providerId="AD" clId="Web-{3C6C99DD-926C-EDD6-345A-232420056D08}" dt="2026-10-29T15:15:01.581" v="5" actId="20577"/>
          <ac:spMkLst>
            <pc:docMk/>
            <pc:sldMk cId="0" sldId="257"/>
            <ac:spMk id="6" creationId="{00000000-0000-0000-0000-000000000000}"/>
          </ac:spMkLst>
        </pc:spChg>
        <pc:spChg chg="mod">
          <ac:chgData name="Sebastian  Cataño Gomez" userId="S::sebastian.catano44@correo.tdea.edu.co::d6183cc0-ca36-4b54-b52c-180131a4d3ed" providerId="AD" clId="Web-{3C6C99DD-926C-EDD6-345A-232420056D08}" dt="2026-10-29T15:14:56.222" v="2" actId="1076"/>
          <ac:spMkLst>
            <pc:docMk/>
            <pc:sldMk cId="0" sldId="257"/>
            <ac:spMk id="7" creationId="{00000000-0000-0000-0000-000000000000}"/>
          </ac:spMkLst>
        </pc:spChg>
      </pc:sldChg>
    </pc:docChg>
  </pc:docChgLst>
  <pc:docChgLst>
    <pc:chgData name="Simon  Bran Bran" userId="S::simon.bran@correo.tdea.edu.co::a866072f-9fdb-44be-af64-31e084b9349d" providerId="AD" clId="Web-{ED56BDCE-74C5-4BB2-56F9-ECC8DA739F23}"/>
    <pc:docChg chg="modSld">
      <pc:chgData name="Simon  Bran Bran" userId="S::simon.bran@correo.tdea.edu.co::a866072f-9fdb-44be-af64-31e084b9349d" providerId="AD" clId="Web-{ED56BDCE-74C5-4BB2-56F9-ECC8DA739F23}" dt="2026-10-29T15:02:51.938" v="1" actId="1076"/>
      <pc:docMkLst>
        <pc:docMk/>
      </pc:docMkLst>
      <pc:sldChg chg="modSp">
        <pc:chgData name="Simon  Bran Bran" userId="S::simon.bran@correo.tdea.edu.co::a866072f-9fdb-44be-af64-31e084b9349d" providerId="AD" clId="Web-{ED56BDCE-74C5-4BB2-56F9-ECC8DA739F23}" dt="2026-10-29T15:02:51.938" v="1" actId="1076"/>
        <pc:sldMkLst>
          <pc:docMk/>
          <pc:sldMk cId="0" sldId="257"/>
        </pc:sldMkLst>
        <pc:spChg chg="mod">
          <ac:chgData name="Simon  Bran Bran" userId="S::simon.bran@correo.tdea.edu.co::a866072f-9fdb-44be-af64-31e084b9349d" providerId="AD" clId="Web-{ED56BDCE-74C5-4BB2-56F9-ECC8DA739F23}" dt="2026-10-29T15:02:51.938" v="1" actId="1076"/>
          <ac:spMkLst>
            <pc:docMk/>
            <pc:sldMk cId="0" sldId="257"/>
            <ac:spMk id="8" creationId="{00000000-0000-0000-0000-000000000000}"/>
          </ac:spMkLst>
        </pc:spChg>
      </pc:sldChg>
    </pc:docChg>
  </pc:docChgLst>
  <pc:docChgLst>
    <pc:chgData name="Aixa Eileen Villamizar Jaimes" userId="c396af69-77c2-4a41-a534-cbaaa046bd6a" providerId="ADAL" clId="{A98663A9-8B5E-43B0-9FD3-FBD8AFBDC67A}"/>
    <pc:docChg chg="modSld">
      <pc:chgData name="Aixa Eileen Villamizar Jaimes" userId="c396af69-77c2-4a41-a534-cbaaa046bd6a" providerId="ADAL" clId="{A98663A9-8B5E-43B0-9FD3-FBD8AFBDC67A}" dt="2026-10-29T05:31:19.749" v="0" actId="22"/>
      <pc:docMkLst>
        <pc:docMk/>
      </pc:docMkLst>
      <pc:sldChg chg="addSp mod">
        <pc:chgData name="Aixa Eileen Villamizar Jaimes" userId="c396af69-77c2-4a41-a534-cbaaa046bd6a" providerId="ADAL" clId="{A98663A9-8B5E-43B0-9FD3-FBD8AFBDC67A}" dt="2026-10-29T05:31:19.749" v="0" actId="22"/>
        <pc:sldMkLst>
          <pc:docMk/>
          <pc:sldMk cId="0" sldId="256"/>
        </pc:sldMkLst>
        <pc:picChg chg="add">
          <ac:chgData name="Aixa Eileen Villamizar Jaimes" userId="c396af69-77c2-4a41-a534-cbaaa046bd6a" providerId="ADAL" clId="{A98663A9-8B5E-43B0-9FD3-FBD8AFBDC67A}" dt="2026-10-29T05:31:19.749" v="0" actId="22"/>
          <ac:picMkLst>
            <pc:docMk/>
            <pc:sldMk cId="0" sldId="256"/>
            <ac:picMk id="19" creationId="{16FB8723-A7D0-BC5A-8D02-7C301A1CDB0A}"/>
          </ac:picMkLst>
        </pc:picChg>
      </pc:sldChg>
    </pc:docChg>
  </pc:docChgLst>
  <pc:docChgLst>
    <pc:chgData name="MAYRA ALEJANDRA MUÃOZ CORTES" userId="S::22111379_guanajuato.tecnm.mx#ext#@tecnologicodeantioquia.onmicrosoft.com::fa6e10d1-bc25-4273-8e49-d13ab7e366ba" providerId="AD" clId="Web-{00000000-0000-0000-0000-000000000000}"/>
    <pc:docChg chg="modSld">
      <pc:chgData name="MAYRA ALEJANDRA MUÃOZ CORTES" userId="S::22111379_guanajuato.tecnm.mx#ext#@tecnologicodeantioquia.onmicrosoft.com::fa6e10d1-bc25-4273-8e49-d13ab7e366ba" providerId="AD" clId="Web-{00000000-0000-0000-0000-000000000000}" dt="2026-10-29T15:35:42.425" v="313" actId="1076"/>
      <pc:docMkLst>
        <pc:docMk/>
      </pc:docMkLst>
      <pc:sldChg chg="addSp delSp modSp">
        <pc:chgData name="MAYRA ALEJANDRA MUÃOZ CORTES" userId="S::22111379_guanajuato.tecnm.mx#ext#@tecnologicodeantioquia.onmicrosoft.com::fa6e10d1-bc25-4273-8e49-d13ab7e366ba" providerId="AD" clId="Web-{00000000-0000-0000-0000-000000000000}" dt="2026-10-29T15:35:42.425" v="313" actId="1076"/>
        <pc:sldMkLst>
          <pc:docMk/>
          <pc:sldMk cId="0" sldId="257"/>
        </pc:sldMkLst>
        <pc:spChg chg="mod">
          <ac:chgData name="MAYRA ALEJANDRA MUÃOZ CORTES" userId="S::22111379_guanajuato.tecnm.mx#ext#@tecnologicodeantioquia.onmicrosoft.com::fa6e10d1-bc25-4273-8e49-d13ab7e366ba" providerId="AD" clId="Web-{00000000-0000-0000-0000-000000000000}" dt="2026-10-29T15:27:01.915" v="1" actId="1076"/>
          <ac:spMkLst>
            <pc:docMk/>
            <pc:sldMk cId="0" sldId="257"/>
            <ac:spMk id="5" creationId="{00000000-0000-0000-0000-000000000000}"/>
          </ac:spMkLst>
        </pc:spChg>
        <pc:spChg chg="mod">
          <ac:chgData name="MAYRA ALEJANDRA MUÃOZ CORTES" userId="S::22111379_guanajuato.tecnm.mx#ext#@tecnologicodeantioquia.onmicrosoft.com::fa6e10d1-bc25-4273-8e49-d13ab7e366ba" providerId="AD" clId="Web-{00000000-0000-0000-0000-000000000000}" dt="2026-10-29T15:33:59.223" v="270" actId="20577"/>
          <ac:spMkLst>
            <pc:docMk/>
            <pc:sldMk cId="0" sldId="257"/>
            <ac:spMk id="6" creationId="{00000000-0000-0000-0000-000000000000}"/>
          </ac:spMkLst>
        </pc:spChg>
        <pc:spChg chg="mod">
          <ac:chgData name="MAYRA ALEJANDRA MUÃOZ CORTES" userId="S::22111379_guanajuato.tecnm.mx#ext#@tecnologicodeantioquia.onmicrosoft.com::fa6e10d1-bc25-4273-8e49-d13ab7e366ba" providerId="AD" clId="Web-{00000000-0000-0000-0000-000000000000}" dt="2026-10-29T15:33:41.785" v="266" actId="1076"/>
          <ac:spMkLst>
            <pc:docMk/>
            <pc:sldMk cId="0" sldId="257"/>
            <ac:spMk id="10" creationId="{00000000-0000-0000-0000-000000000000}"/>
          </ac:spMkLst>
        </pc:spChg>
        <pc:spChg chg="del mod">
          <ac:chgData name="MAYRA ALEJANDRA MUÃOZ CORTES" userId="S::22111379_guanajuato.tecnm.mx#ext#@tecnologicodeantioquia.onmicrosoft.com::fa6e10d1-bc25-4273-8e49-d13ab7e366ba" providerId="AD" clId="Web-{00000000-0000-0000-0000-000000000000}" dt="2026-10-29T15:33:00.973" v="240"/>
          <ac:spMkLst>
            <pc:docMk/>
            <pc:sldMk cId="0" sldId="257"/>
            <ac:spMk id="11" creationId="{00000000-0000-0000-0000-000000000000}"/>
          </ac:spMkLst>
        </pc:spChg>
        <pc:spChg chg="mod">
          <ac:chgData name="MAYRA ALEJANDRA MUÃOZ CORTES" userId="S::22111379_guanajuato.tecnm.mx#ext#@tecnologicodeantioquia.onmicrosoft.com::fa6e10d1-bc25-4273-8e49-d13ab7e366ba" providerId="AD" clId="Web-{00000000-0000-0000-0000-000000000000}" dt="2026-10-29T15:32:48.739" v="237" actId="20577"/>
          <ac:spMkLst>
            <pc:docMk/>
            <pc:sldMk cId="0" sldId="257"/>
            <ac:spMk id="13" creationId="{00000000-0000-0000-0000-000000000000}"/>
          </ac:spMkLst>
        </pc:spChg>
        <pc:spChg chg="mod">
          <ac:chgData name="MAYRA ALEJANDRA MUÃOZ CORTES" userId="S::22111379_guanajuato.tecnm.mx#ext#@tecnologicodeantioquia.onmicrosoft.com::fa6e10d1-bc25-4273-8e49-d13ab7e366ba" providerId="AD" clId="Web-{00000000-0000-0000-0000-000000000000}" dt="2026-10-29T15:29:48.992" v="95" actId="20577"/>
          <ac:spMkLst>
            <pc:docMk/>
            <pc:sldMk cId="0" sldId="257"/>
            <ac:spMk id="14" creationId="{00000000-0000-0000-0000-000000000000}"/>
          </ac:spMkLst>
        </pc:spChg>
        <pc:spChg chg="mod">
          <ac:chgData name="MAYRA ALEJANDRA MUÃOZ CORTES" userId="S::22111379_guanajuato.tecnm.mx#ext#@tecnologicodeantioquia.onmicrosoft.com::fa6e10d1-bc25-4273-8e49-d13ab7e366ba" providerId="AD" clId="Web-{00000000-0000-0000-0000-000000000000}" dt="2026-10-29T15:32:34.692" v="228" actId="20577"/>
          <ac:spMkLst>
            <pc:docMk/>
            <pc:sldMk cId="0" sldId="257"/>
            <ac:spMk id="16" creationId="{00000000-0000-0000-0000-000000000000}"/>
          </ac:spMkLst>
        </pc:spChg>
        <pc:spChg chg="add del mod">
          <ac:chgData name="MAYRA ALEJANDRA MUÃOZ CORTES" userId="S::22111379_guanajuato.tecnm.mx#ext#@tecnologicodeantioquia.onmicrosoft.com::fa6e10d1-bc25-4273-8e49-d13ab7e366ba" providerId="AD" clId="Web-{00000000-0000-0000-0000-000000000000}" dt="2026-10-29T15:27:57.415" v="26"/>
          <ac:spMkLst>
            <pc:docMk/>
            <pc:sldMk cId="0" sldId="257"/>
            <ac:spMk id="37" creationId="{8CBA6F78-4355-FF4D-C291-7F6E4A3129C1}"/>
          </ac:spMkLst>
        </pc:spChg>
        <pc:spChg chg="add del">
          <ac:chgData name="MAYRA ALEJANDRA MUÃOZ CORTES" userId="S::22111379_guanajuato.tecnm.mx#ext#@tecnologicodeantioquia.onmicrosoft.com::fa6e10d1-bc25-4273-8e49-d13ab7e366ba" providerId="AD" clId="Web-{00000000-0000-0000-0000-000000000000}" dt="2026-10-29T15:34:19.754" v="272"/>
          <ac:spMkLst>
            <pc:docMk/>
            <pc:sldMk cId="0" sldId="257"/>
            <ac:spMk id="38" creationId="{3DE9B0A8-565B-20D7-FF57-812300738E71}"/>
          </ac:spMkLst>
        </pc:spChg>
        <pc:spChg chg="add mod">
          <ac:chgData name="MAYRA ALEJANDRA MUÃOZ CORTES" userId="S::22111379_guanajuato.tecnm.mx#ext#@tecnologicodeantioquia.onmicrosoft.com::fa6e10d1-bc25-4273-8e49-d13ab7e366ba" providerId="AD" clId="Web-{00000000-0000-0000-0000-000000000000}" dt="2026-10-29T15:35:42.425" v="313" actId="1076"/>
          <ac:spMkLst>
            <pc:docMk/>
            <pc:sldMk cId="0" sldId="257"/>
            <ac:spMk id="39" creationId="{BA047424-D64C-C9D4-DFED-4C616995061F}"/>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6924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solidFill>
          <a:srgbClr val="0A1D4A"/>
        </a:solidFill>
        <a:effectLst/>
      </p:bgPr>
    </p:bg>
    <p:spTree>
      <p:nvGrpSpPr>
        <p:cNvPr id="1" name=""/>
        <p:cNvGrpSpPr/>
        <p:nvPr/>
      </p:nvGrpSpPr>
      <p:grpSpPr>
        <a:xfrm>
          <a:off x="0" y="0"/>
          <a:ext cx="0" cy="0"/>
          <a:chOff x="0" y="0"/>
          <a:chExt cx="0" cy="0"/>
        </a:xfrm>
      </p:grpSpPr>
      <p:pic>
        <p:nvPicPr>
          <p:cNvPr id="2" name="Image 0" descr="/tmp/claude-0/-home-claude/23961d35-caf7-5a09-963d-e18a3a25bb93/scratchpad/genia/logo_gob.png"/>
          <p:cNvPicPr>
            <a:picLocks noChangeAspect="1"/>
          </p:cNvPicPr>
          <p:nvPr/>
        </p:nvPicPr>
        <p:blipFill>
          <a:blip r:embed="rId2"/>
          <a:stretch>
            <a:fillRect/>
          </a:stretch>
        </p:blipFill>
        <p:spPr>
          <a:xfrm>
            <a:off x="9721901" y="6263640"/>
            <a:ext cx="1829714" cy="347015"/>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FORMATO">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382512"/>
            <a:ext cx="12191695" cy="475488"/>
          </a:xfrm>
          <a:prstGeom prst="rect">
            <a:avLst/>
          </a:prstGeom>
          <a:solidFill>
            <a:srgbClr val="0A1D4A"/>
          </a:solidFill>
          <a:ln/>
        </p:spPr>
      </p:sp>
      <p:sp>
        <p:nvSpPr>
          <p:cNvPr id="3" name="Text 1"/>
          <p:cNvSpPr/>
          <p:nvPr/>
        </p:nvSpPr>
        <p:spPr>
          <a:xfrm>
            <a:off x="457200" y="6483096"/>
            <a:ext cx="7315200" cy="274320"/>
          </a:xfrm>
          <a:prstGeom prst="rect">
            <a:avLst/>
          </a:prstGeom>
          <a:noFill/>
          <a:ln/>
        </p:spPr>
        <p:txBody>
          <a:bodyPr wrap="square" lIns="0" tIns="0" rIns="0" bIns="0" rtlCol="0" anchor="ctr"/>
          <a:lstStyle/>
          <a:p>
            <a:pPr marL="0" indent="0">
              <a:buNone/>
            </a:pPr>
            <a:r>
              <a:rPr lang="en-US" sz="900">
                <a:solidFill>
                  <a:srgbClr val="D5DCE8"/>
                </a:solidFill>
                <a:latin typeface="Calibri" pitchFamily="34" charset="0"/>
                <a:ea typeface="Calibri" pitchFamily="34" charset="-122"/>
                <a:cs typeface="Calibri" pitchFamily="34" charset="-120"/>
              </a:rPr>
              <a:t>Hackatón EISI 2026 · Modalidad virtual · Metodología GENIA</a:t>
            </a:r>
            <a:endParaRPr lang="en-US" sz="900"/>
          </a:p>
        </p:txBody>
      </p:sp>
      <p:pic>
        <p:nvPicPr>
          <p:cNvPr id="4" name="Image 0" descr="/tmp/claude-0/-home-claude/23961d35-caf7-5a09-963d-e18a3a25bb93/scratchpad/genia/logo_gob.png"/>
          <p:cNvPicPr>
            <a:picLocks noChangeAspect="1"/>
          </p:cNvPicPr>
          <p:nvPr/>
        </p:nvPicPr>
        <p:blipFill>
          <a:blip r:embed="rId2"/>
          <a:stretch>
            <a:fillRect/>
          </a:stretch>
        </p:blipFill>
        <p:spPr>
          <a:xfrm>
            <a:off x="10143439" y="6469380"/>
            <a:ext cx="1591056" cy="301752"/>
          </a:xfrm>
          <a:prstGeom prst="rect">
            <a:avLst/>
          </a:prstGeom>
        </p:spPr>
      </p:pic>
      <p:sp>
        <p:nvSpPr>
          <p:cNvPr id="25" name="Slide Number Placeholder 0"/>
          <p:cNvSpPr>
            <a:spLocks noGrp="1"/>
          </p:cNvSpPr>
          <p:nvPr>
            <p:ph type="sldNum" sz="quarter" idx="4294967295"/>
          </p:nvPr>
        </p:nvSpPr>
        <p:spPr>
          <a:xfrm>
            <a:off x="9464040" y="6483096"/>
            <a:ext cx="54864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B8DC0E"/>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9464040" y="6483096"/>
            <a:ext cx="54864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B8DC0E"/>
                </a:solidFill>
                <a:latin typeface="Calibri"/>
                <a:ea typeface="Calibri"/>
                <a:cs typeface="Calibri"/>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3.jpg"/><Relationship Id="rId4" Type="http://schemas.openxmlformats.org/officeDocument/2006/relationships/image" Target="../media/image4.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640080" y="685800"/>
            <a:ext cx="1280160" cy="1280160"/>
          </a:xfrm>
          <a:prstGeom prst="ellipse">
            <a:avLst/>
          </a:prstGeom>
          <a:solidFill>
            <a:srgbClr val="B8DC0E"/>
          </a:solidFill>
          <a:ln w="12700">
            <a:solidFill>
              <a:srgbClr val="B8DC0E"/>
            </a:solidFill>
            <a:prstDash val="solid"/>
          </a:ln>
        </p:spPr>
        <p:txBody>
          <a:bodyPr/>
          <a:lstStyle/>
          <a:p>
            <a:endParaRPr lang="es-CO"/>
          </a:p>
        </p:txBody>
      </p:sp>
      <p:sp>
        <p:nvSpPr>
          <p:cNvPr id="3" name="Text 1"/>
          <p:cNvSpPr txBox="1"/>
          <p:nvPr/>
        </p:nvSpPr>
        <p:spPr>
          <a:xfrm>
            <a:off x="640080" y="685800"/>
            <a:ext cx="1280160" cy="1280160"/>
          </a:xfrm>
          <a:prstGeom prst="rect">
            <a:avLst/>
          </a:prstGeom>
          <a:noFill/>
          <a:ln/>
        </p:spPr>
        <p:txBody>
          <a:bodyPr wrap="square" lIns="0" tIns="0" rIns="0" bIns="0" rtlCol="0" anchor="ctr"/>
          <a:lstStyle/>
          <a:p>
            <a:pPr marL="0" indent="0" algn="ctr">
              <a:buNone/>
            </a:pPr>
            <a:r>
              <a:rPr lang="en-US" sz="5400" b="1">
                <a:solidFill>
                  <a:srgbClr val="0A1D4A"/>
                </a:solidFill>
                <a:latin typeface="Arial" pitchFamily="34" charset="0"/>
                <a:ea typeface="Arial" pitchFamily="34" charset="-122"/>
                <a:cs typeface="Arial" pitchFamily="34" charset="-120"/>
              </a:rPr>
              <a:t>G</a:t>
            </a:r>
            <a:endParaRPr lang="en-US" sz="5400"/>
          </a:p>
        </p:txBody>
      </p:sp>
      <p:sp>
        <p:nvSpPr>
          <p:cNvPr id="4" name="Text 2"/>
          <p:cNvSpPr txBox="1"/>
          <p:nvPr/>
        </p:nvSpPr>
        <p:spPr>
          <a:xfrm>
            <a:off x="2240280" y="731520"/>
            <a:ext cx="9418320" cy="274320"/>
          </a:xfrm>
          <a:prstGeom prst="rect">
            <a:avLst/>
          </a:prstGeom>
          <a:noFill/>
          <a:ln/>
        </p:spPr>
        <p:txBody>
          <a:bodyPr wrap="square" lIns="0" tIns="0" rIns="0" bIns="0" rtlCol="0" anchor="ctr"/>
          <a:lstStyle/>
          <a:p>
            <a:pPr marL="0" indent="0">
              <a:buNone/>
            </a:pPr>
            <a:r>
              <a:rPr lang="en-US" sz="1200" b="1" kern="0" spc="150">
                <a:solidFill>
                  <a:srgbClr val="B8DC0E"/>
                </a:solidFill>
                <a:latin typeface="Calibri" pitchFamily="34" charset="0"/>
                <a:ea typeface="Calibri" pitchFamily="34" charset="-122"/>
                <a:cs typeface="Calibri" pitchFamily="34" charset="-120"/>
              </a:rPr>
              <a:t>ETAPA 1 DE 5 · METODOLOGÍA GENIA</a:t>
            </a:r>
            <a:endParaRPr lang="en-US" sz="1200"/>
          </a:p>
        </p:txBody>
      </p:sp>
      <p:sp>
        <p:nvSpPr>
          <p:cNvPr id="5" name="Text 3"/>
          <p:cNvSpPr txBox="1"/>
          <p:nvPr/>
        </p:nvSpPr>
        <p:spPr>
          <a:xfrm>
            <a:off x="2240280" y="1024128"/>
            <a:ext cx="9418320" cy="685800"/>
          </a:xfrm>
          <a:prstGeom prst="rect">
            <a:avLst/>
          </a:prstGeom>
          <a:noFill/>
          <a:ln/>
        </p:spPr>
        <p:txBody>
          <a:bodyPr wrap="square" lIns="0" tIns="0" rIns="0" bIns="0" rtlCol="0" anchor="ctr"/>
          <a:lstStyle/>
          <a:p>
            <a:pPr marL="0" indent="0">
              <a:buNone/>
            </a:pPr>
            <a:r>
              <a:rPr lang="en-US" sz="4000" b="1">
                <a:solidFill>
                  <a:srgbClr val="FFFFFF"/>
                </a:solidFill>
                <a:latin typeface="Arial"/>
                <a:ea typeface="Arial" pitchFamily="34" charset="-122"/>
                <a:cs typeface="Arial"/>
              </a:rPr>
              <a:t>Genera </a:t>
            </a:r>
            <a:r>
              <a:rPr lang="en-US" sz="4000" b="1" err="1">
                <a:solidFill>
                  <a:srgbClr val="FFFFFF"/>
                </a:solidFill>
                <a:latin typeface="Arial"/>
                <a:ea typeface="Arial" pitchFamily="34" charset="-122"/>
                <a:cs typeface="Arial"/>
              </a:rPr>
              <a:t>tu</a:t>
            </a:r>
            <a:r>
              <a:rPr lang="en-US" sz="4000" b="1">
                <a:solidFill>
                  <a:srgbClr val="FFFFFF"/>
                </a:solidFill>
                <a:latin typeface="Arial"/>
                <a:ea typeface="Arial" pitchFamily="34" charset="-122"/>
                <a:cs typeface="Arial"/>
              </a:rPr>
              <a:t> </a:t>
            </a:r>
            <a:r>
              <a:rPr lang="en-US" sz="4000" b="1" err="1">
                <a:solidFill>
                  <a:srgbClr val="FFFFFF"/>
                </a:solidFill>
                <a:latin typeface="Arial"/>
                <a:ea typeface="Arial" pitchFamily="34" charset="-122"/>
                <a:cs typeface="Arial"/>
              </a:rPr>
              <a:t>reto</a:t>
            </a:r>
            <a:endParaRPr lang="en-US" sz="4000" err="1">
              <a:solidFill>
                <a:srgbClr val="000000"/>
              </a:solidFill>
              <a:latin typeface="Arial"/>
              <a:ea typeface="Calibri"/>
              <a:cs typeface="Calibri"/>
            </a:endParaRPr>
          </a:p>
        </p:txBody>
      </p:sp>
      <p:sp>
        <p:nvSpPr>
          <p:cNvPr id="6" name="Text 4"/>
          <p:cNvSpPr txBox="1"/>
          <p:nvPr/>
        </p:nvSpPr>
        <p:spPr>
          <a:xfrm>
            <a:off x="2240280" y="1755648"/>
            <a:ext cx="9235440" cy="566928"/>
          </a:xfrm>
          <a:prstGeom prst="rect">
            <a:avLst/>
          </a:prstGeom>
          <a:noFill/>
          <a:ln/>
        </p:spPr>
        <p:txBody>
          <a:bodyPr wrap="square" lIns="0" tIns="0" rIns="0" bIns="0" rtlCol="0" anchor="ctr"/>
          <a:lstStyle/>
          <a:p>
            <a:pPr marL="0" indent="0">
              <a:buNone/>
            </a:pPr>
            <a:r>
              <a:rPr lang="en-US" sz="1600">
                <a:solidFill>
                  <a:srgbClr val="D5DCE8"/>
                </a:solidFill>
                <a:latin typeface="Calibri" pitchFamily="34" charset="0"/>
                <a:ea typeface="Calibri" pitchFamily="34" charset="-122"/>
                <a:cs typeface="Calibri" pitchFamily="34" charset="-120"/>
              </a:rPr>
              <a:t>Comprender una situación real desde la observación directa en su ciudad y convertirla en un reto claro y bien planteado.</a:t>
            </a:r>
            <a:endParaRPr lang="en-US" sz="1600"/>
          </a:p>
        </p:txBody>
      </p:sp>
      <p:sp>
        <p:nvSpPr>
          <p:cNvPr id="7" name="Shape 5"/>
          <p:cNvSpPr/>
          <p:nvPr/>
        </p:nvSpPr>
        <p:spPr>
          <a:xfrm>
            <a:off x="640080" y="2697480"/>
            <a:ext cx="3493008" cy="2423160"/>
          </a:xfrm>
          <a:prstGeom prst="roundRect">
            <a:avLst>
              <a:gd name="adj" fmla="val 3019"/>
            </a:avLst>
          </a:prstGeom>
          <a:solidFill>
            <a:srgbClr val="17306B"/>
          </a:solidFill>
          <a:ln w="12700">
            <a:solidFill>
              <a:srgbClr val="17306B"/>
            </a:solidFill>
            <a:prstDash val="solid"/>
          </a:ln>
        </p:spPr>
        <p:txBody>
          <a:bodyPr/>
          <a:lstStyle/>
          <a:p>
            <a:endParaRPr lang="es-CO"/>
          </a:p>
        </p:txBody>
      </p:sp>
      <p:sp>
        <p:nvSpPr>
          <p:cNvPr id="8" name="Text 6"/>
          <p:cNvSpPr txBox="1"/>
          <p:nvPr/>
        </p:nvSpPr>
        <p:spPr>
          <a:xfrm>
            <a:off x="868680" y="2880360"/>
            <a:ext cx="3035808" cy="320040"/>
          </a:xfrm>
          <a:prstGeom prst="rect">
            <a:avLst/>
          </a:prstGeom>
          <a:noFill/>
          <a:ln/>
        </p:spPr>
        <p:txBody>
          <a:bodyPr wrap="square" lIns="0" tIns="0" rIns="0" bIns="0" rtlCol="0" anchor="ctr"/>
          <a:lstStyle/>
          <a:p>
            <a:pPr marL="0" indent="0">
              <a:buNone/>
            </a:pPr>
            <a:r>
              <a:rPr lang="en-US" sz="1400" b="1">
                <a:solidFill>
                  <a:srgbClr val="B8DC0E"/>
                </a:solidFill>
                <a:latin typeface="Calibri" pitchFamily="34" charset="0"/>
                <a:ea typeface="Calibri" pitchFamily="34" charset="-122"/>
                <a:cs typeface="Calibri" pitchFamily="34" charset="-120"/>
              </a:rPr>
              <a:t>Formatos de esta etapa</a:t>
            </a:r>
            <a:endParaRPr lang="en-US" sz="1400"/>
          </a:p>
        </p:txBody>
      </p:sp>
      <p:sp>
        <p:nvSpPr>
          <p:cNvPr id="9" name="Text 7"/>
          <p:cNvSpPr txBox="1"/>
          <p:nvPr/>
        </p:nvSpPr>
        <p:spPr>
          <a:xfrm>
            <a:off x="868680" y="3291840"/>
            <a:ext cx="3035808" cy="1691640"/>
          </a:xfrm>
          <a:prstGeom prst="rect">
            <a:avLst/>
          </a:prstGeom>
          <a:noFill/>
          <a:ln/>
        </p:spPr>
        <p:txBody>
          <a:bodyPr wrap="square" lIns="0" tIns="0" rIns="0" bIns="0" rtlCol="0" anchor="t"/>
          <a:lstStyle/>
          <a:p>
            <a:pPr marL="342900" indent="-342900">
              <a:spcAft>
                <a:spcPts val="600"/>
              </a:spcAft>
              <a:buSzPct val="100000"/>
              <a:buChar char="•"/>
            </a:pPr>
            <a:r>
              <a:rPr lang="en-US" sz="1400">
                <a:solidFill>
                  <a:srgbClr val="FFFFFF"/>
                </a:solidFill>
                <a:latin typeface="Calibri" pitchFamily="34" charset="0"/>
                <a:ea typeface="Calibri" pitchFamily="34" charset="-122"/>
                <a:cs typeface="Calibri" pitchFamily="34" charset="-120"/>
              </a:rPr>
              <a:t>Mosca en la pared</a:t>
            </a:r>
            <a:endParaRPr lang="en-US" sz="1400"/>
          </a:p>
          <a:p>
            <a:pPr marL="342900" indent="-342900">
              <a:spcAft>
                <a:spcPts val="600"/>
              </a:spcAft>
              <a:buSzPct val="100000"/>
              <a:buChar char="•"/>
            </a:pPr>
            <a:r>
              <a:rPr lang="en-US" sz="1400">
                <a:solidFill>
                  <a:srgbClr val="FFFFFF"/>
                </a:solidFill>
                <a:latin typeface="Calibri" pitchFamily="34" charset="0"/>
                <a:ea typeface="Calibri" pitchFamily="34" charset="-122"/>
                <a:cs typeface="Calibri" pitchFamily="34" charset="-120"/>
              </a:rPr>
              <a:t>Brief</a:t>
            </a:r>
            <a:endParaRPr lang="en-US" sz="1400"/>
          </a:p>
        </p:txBody>
      </p:sp>
      <p:sp>
        <p:nvSpPr>
          <p:cNvPr id="10" name="Shape 8"/>
          <p:cNvSpPr/>
          <p:nvPr/>
        </p:nvSpPr>
        <p:spPr>
          <a:xfrm>
            <a:off x="4315968" y="2697480"/>
            <a:ext cx="3493008" cy="2423160"/>
          </a:xfrm>
          <a:prstGeom prst="roundRect">
            <a:avLst>
              <a:gd name="adj" fmla="val 3019"/>
            </a:avLst>
          </a:prstGeom>
          <a:solidFill>
            <a:srgbClr val="17306B"/>
          </a:solidFill>
          <a:ln w="12700">
            <a:solidFill>
              <a:srgbClr val="17306B"/>
            </a:solidFill>
            <a:prstDash val="solid"/>
          </a:ln>
        </p:spPr>
        <p:txBody>
          <a:bodyPr/>
          <a:lstStyle/>
          <a:p>
            <a:endParaRPr lang="es-CO"/>
          </a:p>
        </p:txBody>
      </p:sp>
      <p:sp>
        <p:nvSpPr>
          <p:cNvPr id="11" name="Text 9"/>
          <p:cNvSpPr txBox="1"/>
          <p:nvPr/>
        </p:nvSpPr>
        <p:spPr>
          <a:xfrm>
            <a:off x="4544568" y="2880360"/>
            <a:ext cx="3035808" cy="320040"/>
          </a:xfrm>
          <a:prstGeom prst="rect">
            <a:avLst/>
          </a:prstGeom>
          <a:noFill/>
          <a:ln/>
        </p:spPr>
        <p:txBody>
          <a:bodyPr wrap="square" lIns="0" tIns="0" rIns="0" bIns="0" rtlCol="0" anchor="ctr"/>
          <a:lstStyle/>
          <a:p>
            <a:pPr marL="0" indent="0">
              <a:buNone/>
            </a:pPr>
            <a:r>
              <a:rPr lang="en-US" sz="1400" b="1">
                <a:solidFill>
                  <a:srgbClr val="B8DC0E"/>
                </a:solidFill>
                <a:latin typeface="Calibri" pitchFamily="34" charset="0"/>
                <a:ea typeface="Calibri" pitchFamily="34" charset="-122"/>
                <a:cs typeface="Calibri" pitchFamily="34" charset="-120"/>
              </a:rPr>
              <a:t>Horario · 29 de octubre</a:t>
            </a:r>
            <a:endParaRPr lang="en-US" sz="1400"/>
          </a:p>
        </p:txBody>
      </p:sp>
      <p:sp>
        <p:nvSpPr>
          <p:cNvPr id="12" name="Text 10"/>
          <p:cNvSpPr txBox="1"/>
          <p:nvPr/>
        </p:nvSpPr>
        <p:spPr>
          <a:xfrm>
            <a:off x="4544568" y="3291840"/>
            <a:ext cx="3035808" cy="1691640"/>
          </a:xfrm>
          <a:prstGeom prst="rect">
            <a:avLst/>
          </a:prstGeom>
          <a:noFill/>
          <a:ln/>
        </p:spPr>
        <p:txBody>
          <a:bodyPr wrap="square" lIns="0" tIns="0" rIns="0" bIns="0" rtlCol="0" anchor="t"/>
          <a:lstStyle/>
          <a:p>
            <a:pPr marL="342900" indent="-342900">
              <a:spcAft>
                <a:spcPts val="600"/>
              </a:spcAft>
              <a:buSzPct val="100000"/>
              <a:buChar char="•"/>
            </a:pPr>
            <a:r>
              <a:rPr lang="en-US" sz="1400">
                <a:solidFill>
                  <a:srgbClr val="FFFFFF"/>
                </a:solidFill>
                <a:latin typeface="Calibri" pitchFamily="34" charset="0"/>
                <a:ea typeface="Calibri" pitchFamily="34" charset="-122"/>
                <a:cs typeface="Calibri" pitchFamily="34" charset="-120"/>
              </a:rPr>
              <a:t>Colombia: 9:00 – 10:00</a:t>
            </a:r>
            <a:endParaRPr lang="en-US" sz="1400"/>
          </a:p>
          <a:p>
            <a:pPr marL="342900" indent="-342900">
              <a:spcAft>
                <a:spcPts val="600"/>
              </a:spcAft>
              <a:buSzPct val="100000"/>
              <a:buChar char="•"/>
            </a:pPr>
            <a:r>
              <a:rPr lang="en-US" sz="1400">
                <a:solidFill>
                  <a:srgbClr val="FFFFFF"/>
                </a:solidFill>
                <a:latin typeface="Calibri" pitchFamily="34" charset="0"/>
                <a:ea typeface="Calibri" pitchFamily="34" charset="-122"/>
                <a:cs typeface="Calibri" pitchFamily="34" charset="-120"/>
              </a:rPr>
              <a:t>México y Honduras: 8:00 – 9:00</a:t>
            </a:r>
            <a:endParaRPr lang="en-US" sz="1400"/>
          </a:p>
          <a:p>
            <a:pPr marL="342900" indent="-342900">
              <a:spcAft>
                <a:spcPts val="600"/>
              </a:spcAft>
              <a:buSzPct val="100000"/>
              <a:buChar char="•"/>
            </a:pPr>
            <a:r>
              <a:rPr lang="en-US" sz="1400">
                <a:solidFill>
                  <a:srgbClr val="FFFFFF"/>
                </a:solidFill>
                <a:latin typeface="Calibri" pitchFamily="34" charset="0"/>
                <a:ea typeface="Calibri" pitchFamily="34" charset="-122"/>
                <a:cs typeface="Calibri" pitchFamily="34" charset="-120"/>
              </a:rPr>
              <a:t>Al cierre, revisión corta del mentor</a:t>
            </a:r>
            <a:endParaRPr lang="en-US" sz="1400"/>
          </a:p>
        </p:txBody>
      </p:sp>
      <p:sp>
        <p:nvSpPr>
          <p:cNvPr id="13" name="Shape 11"/>
          <p:cNvSpPr/>
          <p:nvPr/>
        </p:nvSpPr>
        <p:spPr>
          <a:xfrm>
            <a:off x="7991856" y="2697480"/>
            <a:ext cx="3493008" cy="2423160"/>
          </a:xfrm>
          <a:prstGeom prst="roundRect">
            <a:avLst>
              <a:gd name="adj" fmla="val 3019"/>
            </a:avLst>
          </a:prstGeom>
          <a:solidFill>
            <a:srgbClr val="17306B"/>
          </a:solidFill>
          <a:ln w="12700">
            <a:solidFill>
              <a:srgbClr val="17306B"/>
            </a:solidFill>
            <a:prstDash val="solid"/>
          </a:ln>
        </p:spPr>
        <p:txBody>
          <a:bodyPr/>
          <a:lstStyle/>
          <a:p>
            <a:endParaRPr lang="es-CO"/>
          </a:p>
        </p:txBody>
      </p:sp>
      <p:sp>
        <p:nvSpPr>
          <p:cNvPr id="14" name="Text 12"/>
          <p:cNvSpPr txBox="1"/>
          <p:nvPr/>
        </p:nvSpPr>
        <p:spPr>
          <a:xfrm>
            <a:off x="8220456" y="2880360"/>
            <a:ext cx="3035808" cy="320040"/>
          </a:xfrm>
          <a:prstGeom prst="rect">
            <a:avLst/>
          </a:prstGeom>
          <a:noFill/>
          <a:ln/>
        </p:spPr>
        <p:txBody>
          <a:bodyPr wrap="square" lIns="0" tIns="0" rIns="0" bIns="0" rtlCol="0" anchor="ctr"/>
          <a:lstStyle/>
          <a:p>
            <a:pPr marL="0" indent="0">
              <a:buNone/>
            </a:pPr>
            <a:r>
              <a:rPr lang="en-US" sz="1400" b="1">
                <a:solidFill>
                  <a:srgbClr val="B8DC0E"/>
                </a:solidFill>
                <a:latin typeface="Calibri" pitchFamily="34" charset="0"/>
                <a:ea typeface="Calibri" pitchFamily="34" charset="-122"/>
                <a:cs typeface="Calibri" pitchFamily="34" charset="-120"/>
              </a:rPr>
              <a:t>Cómo entregar</a:t>
            </a:r>
            <a:endParaRPr lang="en-US" sz="1400"/>
          </a:p>
        </p:txBody>
      </p:sp>
      <p:sp>
        <p:nvSpPr>
          <p:cNvPr id="15" name="Text 13"/>
          <p:cNvSpPr txBox="1"/>
          <p:nvPr/>
        </p:nvSpPr>
        <p:spPr>
          <a:xfrm>
            <a:off x="8220456" y="3291840"/>
            <a:ext cx="3035808" cy="1691640"/>
          </a:xfrm>
          <a:prstGeom prst="rect">
            <a:avLst/>
          </a:prstGeom>
          <a:noFill/>
          <a:ln/>
        </p:spPr>
        <p:txBody>
          <a:bodyPr wrap="square" lIns="0" tIns="0" rIns="0" bIns="0" rtlCol="0" anchor="t"/>
          <a:lstStyle/>
          <a:p>
            <a:pPr marL="342900" indent="-342900">
              <a:spcAft>
                <a:spcPts val="600"/>
              </a:spcAft>
              <a:buSzPct val="100000"/>
              <a:buChar char="•"/>
            </a:pPr>
            <a:r>
              <a:rPr lang="en-US" sz="1400">
                <a:solidFill>
                  <a:srgbClr val="FFFFFF"/>
                </a:solidFill>
                <a:latin typeface="Calibri" pitchFamily="34" charset="0"/>
                <a:ea typeface="Calibri" pitchFamily="34" charset="-122"/>
                <a:cs typeface="Calibri" pitchFamily="34" charset="-120"/>
              </a:rPr>
              <a:t>Diligencien cada diapositiva</a:t>
            </a:r>
            <a:endParaRPr lang="en-US" sz="1400"/>
          </a:p>
          <a:p>
            <a:pPr marL="342900" indent="-342900">
              <a:spcAft>
                <a:spcPts val="600"/>
              </a:spcAft>
              <a:buSzPct val="100000"/>
              <a:buChar char="•"/>
            </a:pPr>
            <a:r>
              <a:rPr lang="en-US" sz="1400">
                <a:solidFill>
                  <a:srgbClr val="FFFFFF"/>
                </a:solidFill>
                <a:latin typeface="Calibri" pitchFamily="34" charset="0"/>
                <a:ea typeface="Calibri" pitchFamily="34" charset="-122"/>
                <a:cs typeface="Calibri" pitchFamily="34" charset="-120"/>
              </a:rPr>
              <a:t>Guarden el archivo en la carpeta G del canal</a:t>
            </a:r>
            <a:endParaRPr lang="en-US" sz="1400"/>
          </a:p>
          <a:p>
            <a:pPr marL="342900" indent="-342900">
              <a:spcAft>
                <a:spcPts val="600"/>
              </a:spcAft>
              <a:buSzPct val="100000"/>
              <a:buChar char="•"/>
            </a:pPr>
            <a:r>
              <a:rPr lang="en-US" sz="1400">
                <a:solidFill>
                  <a:srgbClr val="FFFFFF"/>
                </a:solidFill>
                <a:latin typeface="Calibri" pitchFamily="34" charset="0"/>
                <a:ea typeface="Calibri" pitchFamily="34" charset="-122"/>
                <a:cs typeface="Calibri" pitchFamily="34" charset="-120"/>
              </a:rPr>
              <a:t>Nombre: EquipoNN_G_GeneraTuReto</a:t>
            </a:r>
            <a:endParaRPr lang="en-US" sz="1400"/>
          </a:p>
        </p:txBody>
      </p:sp>
      <p:sp>
        <p:nvSpPr>
          <p:cNvPr id="16" name="Text 14"/>
          <p:cNvSpPr txBox="1"/>
          <p:nvPr/>
        </p:nvSpPr>
        <p:spPr>
          <a:xfrm>
            <a:off x="640080" y="5349240"/>
            <a:ext cx="10881360" cy="548640"/>
          </a:xfrm>
          <a:prstGeom prst="rect">
            <a:avLst/>
          </a:prstGeom>
          <a:noFill/>
          <a:ln/>
        </p:spPr>
        <p:txBody>
          <a:bodyPr wrap="square" lIns="0" tIns="0" rIns="0" bIns="0" rtlCol="0" anchor="ctr"/>
          <a:lstStyle/>
          <a:p>
            <a:pPr marL="0" indent="0">
              <a:buNone/>
            </a:pPr>
            <a:r>
              <a:rPr lang="en-US" sz="1300" b="1">
                <a:solidFill>
                  <a:srgbClr val="FFFFFF"/>
                </a:solidFill>
                <a:latin typeface="Calibri" pitchFamily="34" charset="0"/>
                <a:ea typeface="Calibri" pitchFamily="34" charset="-122"/>
                <a:cs typeface="Calibri" pitchFamily="34" charset="-120"/>
              </a:rPr>
              <a:t>Cómo diligenciar: </a:t>
            </a:r>
            <a:r>
              <a:rPr lang="en-US" sz="1300">
                <a:solidFill>
                  <a:srgbClr val="D5DCE8"/>
                </a:solidFill>
                <a:latin typeface="Calibri" pitchFamily="34" charset="0"/>
                <a:ea typeface="Calibri" pitchFamily="34" charset="-122"/>
                <a:cs typeface="Calibri" pitchFamily="34" charset="-120"/>
              </a:rPr>
              <a:t>hagan clic en el texto gris de cada recuadro, bórrenlo y escriban. Pueden insertar fotos, formas y flechas. Si necesitan otra hoja igual, clic derecho sobre la miniatura › Duplicar diapositiva.</a:t>
            </a:r>
            <a:endParaRPr lang="en-US" sz="1300"/>
          </a:p>
        </p:txBody>
      </p:sp>
      <p:sp>
        <p:nvSpPr>
          <p:cNvPr id="17" name="Text 15"/>
          <p:cNvSpPr txBox="1"/>
          <p:nvPr/>
        </p:nvSpPr>
        <p:spPr>
          <a:xfrm>
            <a:off x="640080" y="6382512"/>
            <a:ext cx="7315200" cy="274320"/>
          </a:xfrm>
          <a:prstGeom prst="rect">
            <a:avLst/>
          </a:prstGeom>
          <a:noFill/>
          <a:ln/>
        </p:spPr>
        <p:txBody>
          <a:bodyPr wrap="square" lIns="0" tIns="0" rIns="0" bIns="0" rtlCol="0" anchor="ctr"/>
          <a:lstStyle/>
          <a:p>
            <a:pPr marL="0" indent="0">
              <a:buNone/>
            </a:pPr>
            <a:r>
              <a:rPr lang="en-US" sz="900">
                <a:solidFill>
                  <a:srgbClr val="9FB0C9"/>
                </a:solidFill>
                <a:latin typeface="Calibri" pitchFamily="34" charset="0"/>
                <a:ea typeface="Calibri" pitchFamily="34" charset="-122"/>
                <a:cs typeface="Calibri" pitchFamily="34" charset="-120"/>
              </a:rPr>
              <a:t>Hackatón EISI 2026 · Modalidad virtual · Metodología GENIA</a:t>
            </a:r>
            <a:endParaRPr lang="en-US" sz="900"/>
          </a:p>
        </p:txBody>
      </p:sp>
      <p:pic>
        <p:nvPicPr>
          <p:cNvPr id="19" name="Imagen 18">
            <a:extLst>
              <a:ext uri="{FF2B5EF4-FFF2-40B4-BE49-F238E27FC236}">
                <a16:creationId xmlns:a16="http://schemas.microsoft.com/office/drawing/2014/main" id="{16FB8723-A7D0-BC5A-8D02-7C301A1CDB0A}"/>
              </a:ext>
            </a:extLst>
          </p:cNvPr>
          <p:cNvPicPr>
            <a:picLocks noChangeAspect="1"/>
          </p:cNvPicPr>
          <p:nvPr/>
        </p:nvPicPr>
        <p:blipFill>
          <a:blip r:embed="rId3"/>
          <a:srcRect t="4077" b="7675"/>
          <a:stretch>
            <a:fillRect/>
          </a:stretch>
        </p:blipFill>
        <p:spPr>
          <a:xfrm>
            <a:off x="9713662" y="0"/>
            <a:ext cx="2478337" cy="116089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457200" y="292608"/>
            <a:ext cx="566928" cy="566928"/>
          </a:xfrm>
          <a:prstGeom prst="ellipse">
            <a:avLst/>
          </a:prstGeom>
          <a:solidFill>
            <a:srgbClr val="B8DC0E"/>
          </a:solidFill>
          <a:ln w="12700">
            <a:solidFill>
              <a:srgbClr val="B8DC0E"/>
            </a:solidFill>
            <a:prstDash val="solid"/>
          </a:ln>
        </p:spPr>
        <p:txBody>
          <a:bodyPr/>
          <a:lstStyle/>
          <a:p>
            <a:endParaRPr lang="es-CO"/>
          </a:p>
        </p:txBody>
      </p:sp>
      <p:sp>
        <p:nvSpPr>
          <p:cNvPr id="3" name="Text 1"/>
          <p:cNvSpPr txBox="1"/>
          <p:nvPr/>
        </p:nvSpPr>
        <p:spPr>
          <a:xfrm>
            <a:off x="457200" y="292608"/>
            <a:ext cx="566928" cy="566928"/>
          </a:xfrm>
          <a:prstGeom prst="rect">
            <a:avLst/>
          </a:prstGeom>
          <a:noFill/>
          <a:ln/>
        </p:spPr>
        <p:txBody>
          <a:bodyPr wrap="square" lIns="0" tIns="0" rIns="0" bIns="0" rtlCol="0" anchor="ctr"/>
          <a:lstStyle/>
          <a:p>
            <a:pPr marL="0" indent="0" algn="ctr">
              <a:buNone/>
            </a:pPr>
            <a:r>
              <a:rPr lang="en-US" sz="2400" b="1">
                <a:solidFill>
                  <a:srgbClr val="0A1D4A"/>
                </a:solidFill>
                <a:latin typeface="Arial" pitchFamily="34" charset="0"/>
                <a:ea typeface="Arial" pitchFamily="34" charset="-122"/>
                <a:cs typeface="Arial" pitchFamily="34" charset="-120"/>
              </a:rPr>
              <a:t>G</a:t>
            </a:r>
            <a:endParaRPr lang="en-US" sz="2400"/>
          </a:p>
        </p:txBody>
      </p:sp>
      <p:sp>
        <p:nvSpPr>
          <p:cNvPr id="4" name="Text 2"/>
          <p:cNvSpPr txBox="1"/>
          <p:nvPr/>
        </p:nvSpPr>
        <p:spPr>
          <a:xfrm>
            <a:off x="1170432" y="246888"/>
            <a:ext cx="6309360" cy="411480"/>
          </a:xfrm>
          <a:prstGeom prst="rect">
            <a:avLst/>
          </a:prstGeom>
          <a:noFill/>
          <a:ln/>
        </p:spPr>
        <p:txBody>
          <a:bodyPr wrap="square" lIns="0" tIns="0" rIns="0" bIns="0" rtlCol="0" anchor="ctr"/>
          <a:lstStyle/>
          <a:p>
            <a:pPr marL="0" indent="0">
              <a:buNone/>
            </a:pPr>
            <a:r>
              <a:rPr lang="en-US" sz="2400" b="1">
                <a:solidFill>
                  <a:srgbClr val="0A1D4A"/>
                </a:solidFill>
                <a:latin typeface="Arial" pitchFamily="34" charset="0"/>
                <a:ea typeface="Arial" pitchFamily="34" charset="-122"/>
                <a:cs typeface="Arial" pitchFamily="34" charset="-120"/>
              </a:rPr>
              <a:t>Mosca en la pared</a:t>
            </a:r>
            <a:endParaRPr lang="en-US" sz="2400"/>
          </a:p>
        </p:txBody>
      </p:sp>
      <p:sp>
        <p:nvSpPr>
          <p:cNvPr id="5" name="Text 3"/>
          <p:cNvSpPr txBox="1"/>
          <p:nvPr/>
        </p:nvSpPr>
        <p:spPr>
          <a:xfrm>
            <a:off x="1170432" y="676656"/>
            <a:ext cx="6309360" cy="274320"/>
          </a:xfrm>
          <a:prstGeom prst="rect">
            <a:avLst/>
          </a:prstGeom>
          <a:noFill/>
          <a:ln/>
        </p:spPr>
        <p:txBody>
          <a:bodyPr wrap="square" lIns="0" tIns="0" rIns="0" bIns="0" rtlCol="0" anchor="ctr"/>
          <a:lstStyle/>
          <a:p>
            <a:pPr marL="0" indent="0">
              <a:buNone/>
            </a:pPr>
            <a:r>
              <a:rPr lang="en-US" sz="1100">
                <a:solidFill>
                  <a:srgbClr val="5B6577"/>
                </a:solidFill>
                <a:latin typeface="Calibri" pitchFamily="34" charset="0"/>
                <a:ea typeface="Calibri" pitchFamily="34" charset="-122"/>
                <a:cs typeface="Calibri" pitchFamily="34" charset="-120"/>
              </a:rPr>
              <a:t>Herramienta de observación: miren sin intervenir y registren lo que pasa.</a:t>
            </a:r>
            <a:endParaRPr lang="en-US" sz="1100"/>
          </a:p>
        </p:txBody>
      </p:sp>
      <p:sp>
        <p:nvSpPr>
          <p:cNvPr id="6" name="Shape 4"/>
          <p:cNvSpPr/>
          <p:nvPr/>
        </p:nvSpPr>
        <p:spPr>
          <a:xfrm>
            <a:off x="7635240" y="274320"/>
            <a:ext cx="1691640" cy="621792"/>
          </a:xfrm>
          <a:prstGeom prst="roundRect">
            <a:avLst>
              <a:gd name="adj" fmla="val 8824"/>
            </a:avLst>
          </a:prstGeom>
          <a:solidFill>
            <a:srgbClr val="F4F7FC"/>
          </a:solidFill>
          <a:ln w="12700">
            <a:solidFill>
              <a:srgbClr val="C8D3E6"/>
            </a:solidFill>
            <a:prstDash val="solid"/>
          </a:ln>
        </p:spPr>
        <p:txBody>
          <a:bodyPr lIns="91440" tIns="45720" rIns="91440" bIns="45720" anchor="t"/>
          <a:lstStyle/>
          <a:p>
            <a:endParaRPr lang="es-CO">
              <a:ea typeface="Calibri"/>
              <a:cs typeface="Calibri"/>
            </a:endParaRPr>
          </a:p>
          <a:p>
            <a:r>
              <a:rPr lang="en-US" sz="1100" i="1" b="1">
                <a:solidFill>
                  <a:srgbClr val="1F2937"/>
                </a:solidFill>
                <a:ea typeface="Calibri"/>
                <a:cs typeface="Calibri"/>
              </a:rPr>
              <a:t>08</a:t>
            </a:r>
          </a:p>
          <a:p>
            <a:endParaRPr lang="es-CO">
              <a:ea typeface="Calibri"/>
              <a:cs typeface="Calibri"/>
            </a:endParaRPr>
          </a:p>
        </p:txBody>
      </p:sp>
      <p:sp>
        <p:nvSpPr>
          <p:cNvPr id="7" name="Text 5"/>
          <p:cNvSpPr txBox="1"/>
          <p:nvPr/>
        </p:nvSpPr>
        <p:spPr>
          <a:xfrm>
            <a:off x="7726680" y="320040"/>
            <a:ext cx="1508760" cy="182880"/>
          </a:xfrm>
          <a:prstGeom prst="rect">
            <a:avLst/>
          </a:prstGeom>
          <a:noFill/>
          <a:ln/>
        </p:spPr>
        <p:txBody>
          <a:bodyPr wrap="square" lIns="0" tIns="0" rIns="0" bIns="0" rtlCol="0" anchor="ctr"/>
          <a:lstStyle/>
          <a:p>
            <a:pPr marL="0" indent="0">
              <a:buNone/>
            </a:pPr>
            <a:r>
              <a:rPr lang="en-US" sz="900" b="1">
                <a:solidFill>
                  <a:srgbClr val="2557D6"/>
                </a:solidFill>
                <a:latin typeface="Calibri" pitchFamily="34" charset="0"/>
                <a:ea typeface="Calibri" pitchFamily="34" charset="-122"/>
                <a:cs typeface="Calibri" pitchFamily="34" charset="-120"/>
              </a:rPr>
              <a:t>EQUIPO</a:t>
            </a:r>
            <a:endParaRPr lang="en-US" sz="900"/>
          </a:p>
        </p:txBody>
      </p:sp>
      <p:sp>
        <p:nvSpPr>
          <p:cNvPr id="9" name="Shape 7"/>
          <p:cNvSpPr/>
          <p:nvPr/>
        </p:nvSpPr>
        <p:spPr>
          <a:xfrm>
            <a:off x="9445752" y="274320"/>
            <a:ext cx="2286000" cy="621792"/>
          </a:xfrm>
          <a:prstGeom prst="roundRect">
            <a:avLst>
              <a:gd name="adj" fmla="val 8824"/>
            </a:avLst>
          </a:prstGeom>
          <a:solidFill>
            <a:srgbClr val="F4F7FC"/>
          </a:solidFill>
          <a:ln w="12700">
            <a:solidFill>
              <a:srgbClr val="C8D3E6"/>
            </a:solidFill>
            <a:prstDash val="solid"/>
          </a:ln>
        </p:spPr>
        <p:txBody>
          <a:bodyPr/>
          <a:lstStyle/>
          <a:p>
            <a:endParaRPr lang="es-CO"/>
          </a:p>
        </p:txBody>
      </p:sp>
      <p:sp>
        <p:nvSpPr>
          <p:cNvPr id="10" name="Text 8"/>
          <p:cNvSpPr txBox="1"/>
          <p:nvPr/>
        </p:nvSpPr>
        <p:spPr>
          <a:xfrm>
            <a:off x="9537192" y="309880"/>
            <a:ext cx="2103120" cy="182880"/>
          </a:xfrm>
          <a:prstGeom prst="rect">
            <a:avLst/>
          </a:prstGeom>
          <a:noFill/>
          <a:ln/>
        </p:spPr>
        <p:txBody>
          <a:bodyPr wrap="square" lIns="0" tIns="0" rIns="0" bIns="0" rtlCol="0" anchor="ctr"/>
          <a:lstStyle/>
          <a:p>
            <a:pPr marL="0" indent="0">
              <a:buNone/>
            </a:pPr>
            <a:r>
              <a:rPr lang="en-US" sz="900" b="1">
                <a:solidFill>
                  <a:srgbClr val="2557D6"/>
                </a:solidFill>
                <a:latin typeface="Calibri" pitchFamily="34" charset="0"/>
                <a:ea typeface="Calibri" pitchFamily="34" charset="-122"/>
                <a:cs typeface="Calibri" pitchFamily="34" charset="-120"/>
              </a:rPr>
              <a:t>RETO Y CIUDAD DE VALIDACIÓN</a:t>
            </a:r>
            <a:endParaRPr lang="en-US" sz="900"/>
          </a:p>
        </p:txBody>
      </p:sp>
      <p:sp>
        <p:nvSpPr>
          <p:cNvPr id="12" name="Shape 10"/>
          <p:cNvSpPr/>
          <p:nvPr/>
        </p:nvSpPr>
        <p:spPr>
          <a:xfrm>
            <a:off x="457200" y="1143000"/>
            <a:ext cx="3566160" cy="2100000"/>
          </a:xfrm>
          <a:prstGeom prst="roundRect">
            <a:avLst>
              <a:gd name="adj" fmla="val 2500"/>
            </a:avLst>
          </a:prstGeom>
          <a:solidFill>
            <a:srgbClr val="F4F7FC"/>
          </a:solidFill>
          <a:ln w="12700">
            <a:solidFill>
              <a:srgbClr val="C8D3E6"/>
            </a:solidFill>
            <a:prstDash val="solid"/>
          </a:ln>
        </p:spPr>
        <p:txBody>
          <a:bodyPr/>
          <a:lstStyle/>
          <a:p>
            <a:endParaRPr lang="es-CO"/>
          </a:p>
        </p:txBody>
      </p:sp>
      <p:sp>
        <p:nvSpPr>
          <p:cNvPr id="13" name="Text 11"/>
          <p:cNvSpPr txBox="1"/>
          <p:nvPr/>
        </p:nvSpPr>
        <p:spPr>
          <a:xfrm>
            <a:off x="566928" y="1216152"/>
            <a:ext cx="3346704" cy="237744"/>
          </a:xfrm>
          <a:prstGeom prst="rect">
            <a:avLst/>
          </a:prstGeom>
          <a:noFill/>
          <a:ln/>
        </p:spPr>
        <p:txBody>
          <a:bodyPr wrap="square" lIns="0" tIns="0" rIns="0" bIns="0" rtlCol="0" anchor="ctr"/>
          <a:lstStyle/>
          <a:p>
            <a:r>
              <a:rPr lang="en-US" sz="1050" b="1" kern="0" spc="50">
                <a:solidFill>
                  <a:srgbClr val="2557D6"/>
                </a:solidFill>
                <a:latin typeface="Calibri"/>
                <a:ea typeface="Calibri"/>
                <a:cs typeface="Calibri"/>
              </a:rPr>
              <a:t>ACTOR CLAVE 1 </a:t>
            </a:r>
            <a:endParaRPr lang="en-US" sz="1050" b="1" kern="0" spc="50">
              <a:solidFill>
                <a:srgbClr val="2557D6"/>
              </a:solidFill>
              <a:ea typeface="Calibri"/>
              <a:cs typeface="Calibri"/>
            </a:endParaRPr>
          </a:p>
        </p:txBody>
      </p:sp>
      <p:sp>
        <p:nvSpPr>
          <p:cNvPr id="14" name="Text 12"/>
          <p:cNvSpPr txBox="1"/>
          <p:nvPr/>
        </p:nvSpPr>
        <p:spPr>
          <a:xfrm>
            <a:off x="566928" y="1490472"/>
            <a:ext cx="3346704" cy="1679376"/>
          </a:xfrm>
          <a:prstGeom prst="rect">
            <a:avLst/>
          </a:prstGeom>
          <a:noFill/>
          <a:ln/>
        </p:spPr>
        <p:txBody>
          <a:bodyPr wrap="square" lIns="0" tIns="0" rIns="0" bIns="0" rtlCol="0" anchor="t"/>
          <a:lstStyle/>
          <a:p>
            <a:pPr marL="0" indent="0">
              <a:spcAft>
                <a:spcPts val="150"/>
              </a:spcAft>
              <a:buNone/>
            </a:pPr>
            <a:r>
              <a:rPr sz="900" b="1" i="0">
                <a:solidFill>
                  <a:srgbClr val="1F2937"/>
                </a:solidFill>
                <a:latin typeface="Calibri"/>
              </a:rPr>
              <a:t>Persona que genera o deja los residuos (peatón)</a:t>
            </a:r>
          </a:p>
          <a:p>
            <a:pPr>
              <a:spcAft>
                <a:spcPts val="150"/>
              </a:spcAft>
            </a:pPr>
            <a:r>
              <a:rPr sz="900" b="1" i="0">
                <a:solidFill>
                  <a:srgbClr val="1F2937"/>
                </a:solidFill>
                <a:latin typeface="Calibri"/>
              </a:rPr>
              <a:t>Función: </a:t>
            </a:r>
            <a:r>
              <a:rPr sz="900" b="0" i="0">
                <a:solidFill>
                  <a:srgbClr val="1F2937"/>
                </a:solidFill>
                <a:latin typeface="Calibri"/>
              </a:rPr>
              <a:t>usa el espacio y se deshace de sus residuos ahí.</a:t>
            </a:r>
          </a:p>
          <a:p>
            <a:pPr>
              <a:spcAft>
                <a:spcPts val="150"/>
              </a:spcAft>
            </a:pPr>
            <a:r>
              <a:rPr sz="900" b="1" i="0">
                <a:solidFill>
                  <a:srgbClr val="1F2937"/>
                </a:solidFill>
                <a:latin typeface="Calibri"/>
              </a:rPr>
              <a:t>Acciones:</a:t>
            </a:r>
          </a:p>
          <a:p>
            <a:pPr>
              <a:spcAft>
                <a:spcPts val="150"/>
              </a:spcAft>
            </a:pPr>
            <a:r>
              <a:rPr sz="900" b="0" i="0">
                <a:solidFill>
                  <a:srgbClr val="1F2937"/>
                </a:solidFill>
                <a:latin typeface="Calibri"/>
              </a:rPr>
              <a:t>1) Pasa caminando.</a:t>
            </a:r>
          </a:p>
          <a:p>
            <a:pPr>
              <a:spcAft>
                <a:spcPts val="150"/>
              </a:spcAft>
            </a:pPr>
            <a:r>
              <a:rPr sz="900" b="0" i="0">
                <a:solidFill>
                  <a:srgbClr val="1F2937"/>
                </a:solidFill>
                <a:latin typeface="Calibri"/>
              </a:rPr>
              <a:t>2) Se detiene cerca del árbol o sardinel.</a:t>
            </a:r>
          </a:p>
          <a:p>
            <a:pPr>
              <a:spcAft>
                <a:spcPts val="150"/>
              </a:spcAft>
            </a:pPr>
            <a:r>
              <a:rPr sz="900" b="0" i="0">
                <a:solidFill>
                  <a:srgbClr val="1F2937"/>
                </a:solidFill>
                <a:latin typeface="Calibri"/>
              </a:rPr>
              <a:t>3) Deja o arroja bolsas o empaques.</a:t>
            </a:r>
          </a:p>
          <a:p>
            <a:pPr>
              <a:spcAft>
                <a:spcPts val="150"/>
              </a:spcAft>
            </a:pPr>
            <a:r>
              <a:rPr sz="900" b="0" i="0">
                <a:solidFill>
                  <a:srgbClr val="1F2937"/>
                </a:solidFill>
                <a:latin typeface="Calibri"/>
              </a:rPr>
              <a:t>4) No usa caneca (no había ninguna a la vista).</a:t>
            </a:r>
          </a:p>
          <a:p>
            <a:pPr>
              <a:spcAft>
                <a:spcPts val="150"/>
              </a:spcAft>
            </a:pPr>
            <a:r>
              <a:rPr sz="900" b="0" i="0">
                <a:solidFill>
                  <a:srgbClr val="1F2937"/>
                </a:solidFill>
                <a:latin typeface="Calibri"/>
              </a:rPr>
              <a:t>5) Se va sin recogerlos.</a:t>
            </a:r>
          </a:p>
          <a:p>
            <a:pPr>
              <a:spcAft>
                <a:spcPts val="150"/>
              </a:spcAft>
            </a:pPr>
            <a:r>
              <a:rPr sz="900" b="1" i="0">
                <a:solidFill>
                  <a:srgbClr val="1F2937"/>
                </a:solidFill>
                <a:latin typeface="Calibri"/>
              </a:rPr>
              <a:t>Comparte: </a:t>
            </a:r>
            <a:r>
              <a:rPr sz="900" b="0" i="0">
                <a:solidFill>
                  <a:srgbClr val="1F2937"/>
                </a:solidFill>
                <a:latin typeface="Calibri"/>
              </a:rPr>
              <a:t>residuos (objetos) con el espacio público.</a:t>
            </a:r>
          </a:p>
        </p:txBody>
      </p:sp>
      <p:sp>
        <p:nvSpPr>
          <p:cNvPr id="15" name="Shape 13"/>
          <p:cNvSpPr/>
          <p:nvPr/>
        </p:nvSpPr>
        <p:spPr>
          <a:xfrm>
            <a:off x="8165592" y="1143000"/>
            <a:ext cx="3566160" cy="2100000"/>
          </a:xfrm>
          <a:prstGeom prst="roundRect">
            <a:avLst>
              <a:gd name="adj" fmla="val 2500"/>
            </a:avLst>
          </a:prstGeom>
          <a:solidFill>
            <a:srgbClr val="F4F7FC"/>
          </a:solidFill>
          <a:ln w="12700">
            <a:solidFill>
              <a:srgbClr val="C8D3E6"/>
            </a:solidFill>
            <a:prstDash val="solid"/>
          </a:ln>
        </p:spPr>
        <p:txBody>
          <a:bodyPr/>
          <a:lstStyle/>
          <a:p>
            <a:endParaRPr lang="es-CO"/>
          </a:p>
        </p:txBody>
      </p:sp>
      <p:sp>
        <p:nvSpPr>
          <p:cNvPr id="16" name="Text 14"/>
          <p:cNvSpPr txBox="1"/>
          <p:nvPr/>
        </p:nvSpPr>
        <p:spPr>
          <a:xfrm>
            <a:off x="8275320" y="1216152"/>
            <a:ext cx="3346704" cy="237744"/>
          </a:xfrm>
          <a:prstGeom prst="rect">
            <a:avLst/>
          </a:prstGeom>
          <a:noFill/>
          <a:ln/>
        </p:spPr>
        <p:txBody>
          <a:bodyPr wrap="square" lIns="0" tIns="0" rIns="0" bIns="0" rtlCol="0" anchor="ctr"/>
          <a:lstStyle/>
          <a:p>
            <a:r>
              <a:rPr lang="en-US" sz="1050" b="1" kern="0" spc="50">
                <a:solidFill>
                  <a:srgbClr val="2557D6"/>
                </a:solidFill>
                <a:latin typeface="Calibri"/>
                <a:ea typeface="Calibri"/>
                <a:cs typeface="Calibri"/>
              </a:rPr>
              <a:t>ACTOR CLAVE 2 </a:t>
            </a:r>
            <a:endParaRPr lang="en-US" sz="1050" b="1" kern="0" spc="50">
              <a:solidFill>
                <a:srgbClr val="2557D6"/>
              </a:solidFill>
              <a:ea typeface="Calibri"/>
              <a:cs typeface="Calibri"/>
            </a:endParaRPr>
          </a:p>
        </p:txBody>
      </p:sp>
      <p:sp>
        <p:nvSpPr>
          <p:cNvPr id="17" name="Text 15"/>
          <p:cNvSpPr txBox="1"/>
          <p:nvPr/>
        </p:nvSpPr>
        <p:spPr>
          <a:xfrm>
            <a:off x="8275320" y="1490472"/>
            <a:ext cx="3346704" cy="1679376"/>
          </a:xfrm>
          <a:prstGeom prst="rect">
            <a:avLst/>
          </a:prstGeom>
          <a:noFill/>
          <a:ln/>
        </p:spPr>
        <p:txBody>
          <a:bodyPr wrap="square" lIns="0" tIns="0" rIns="0" bIns="0" rtlCol="0" anchor="t"/>
          <a:lstStyle/>
          <a:p>
            <a:pPr marL="0" indent="0">
              <a:spcAft>
                <a:spcPts val="150"/>
              </a:spcAft>
              <a:buNone/>
            </a:pPr>
            <a:r>
              <a:rPr sz="900" b="1" i="0">
                <a:solidFill>
                  <a:srgbClr val="1F2937"/>
                </a:solidFill>
                <a:latin typeface="Calibri"/>
              </a:rPr>
              <a:t>Negocio o bar («Night Cocktail»)</a:t>
            </a:r>
            <a:endParaRPr lang="en-US" sz="1050"/>
          </a:p>
          <a:p>
            <a:pPr>
              <a:spcAft>
                <a:spcPts val="150"/>
              </a:spcAft>
            </a:pPr>
            <a:r>
              <a:rPr sz="900" b="1" i="0">
                <a:solidFill>
                  <a:srgbClr val="1F2937"/>
                </a:solidFill>
                <a:latin typeface="Calibri"/>
              </a:rPr>
              <a:t>Función: </a:t>
            </a:r>
            <a:r>
              <a:rPr sz="900" b="0" i="0">
                <a:solidFill>
                  <a:srgbClr val="1F2937"/>
                </a:solidFill>
                <a:latin typeface="Calibri"/>
              </a:rPr>
              <a:t>opera desde un remolque ubicado en el borde del separador.</a:t>
            </a:r>
          </a:p>
          <a:p>
            <a:pPr>
              <a:spcAft>
                <a:spcPts val="150"/>
              </a:spcAft>
            </a:pPr>
            <a:r>
              <a:rPr sz="900" b="1" i="0">
                <a:solidFill>
                  <a:srgbClr val="1F2937"/>
                </a:solidFill>
                <a:latin typeface="Calibri"/>
              </a:rPr>
              <a:t>Acciones:</a:t>
            </a:r>
          </a:p>
          <a:p>
            <a:pPr>
              <a:spcAft>
                <a:spcPts val="150"/>
              </a:spcAft>
            </a:pPr>
            <a:r>
              <a:rPr sz="900" b="0" i="0">
                <a:solidFill>
                  <a:srgbClr val="1F2937"/>
                </a:solidFill>
                <a:latin typeface="Calibri"/>
              </a:rPr>
              <a:t>1) Mantiene el remolque parqueado sobre el borde del separador.</a:t>
            </a:r>
          </a:p>
          <a:p>
            <a:pPr>
              <a:spcAft>
                <a:spcPts val="150"/>
              </a:spcAft>
            </a:pPr>
            <a:r>
              <a:rPr sz="900" b="0" i="0">
                <a:solidFill>
                  <a:srgbClr val="1F2937"/>
                </a:solidFill>
                <a:latin typeface="Calibri"/>
              </a:rPr>
              <a:t>2) Permanece cerrado y sin atención durante la observación.</a:t>
            </a:r>
          </a:p>
          <a:p>
            <a:pPr>
              <a:spcAft>
                <a:spcPts val="150"/>
              </a:spcAft>
            </a:pPr>
            <a:r>
              <a:rPr sz="900" b="0" i="0">
                <a:solidFill>
                  <a:srgbClr val="1F2937"/>
                </a:solidFill>
                <a:latin typeface="Calibri"/>
              </a:rPr>
              <a:t>3) Queda asegurado con candado y cinta en el enganche.</a:t>
            </a:r>
          </a:p>
          <a:p>
            <a:pPr>
              <a:spcAft>
                <a:spcPts val="150"/>
              </a:spcAft>
            </a:pPr>
            <a:r>
              <a:rPr sz="900" b="0" i="0">
                <a:solidFill>
                  <a:srgbClr val="1F2937"/>
                </a:solidFill>
                <a:latin typeface="Calibri"/>
              </a:rPr>
              <a:t>4) Mantiene a la vista su aviso del bar hacia la vía.</a:t>
            </a:r>
          </a:p>
          <a:p>
            <a:pPr>
              <a:spcAft>
                <a:spcPts val="150"/>
              </a:spcAft>
            </a:pPr>
            <a:r>
              <a:rPr sz="900" b="0" i="0">
                <a:solidFill>
                  <a:srgbClr val="1F2937"/>
                </a:solidFill>
                <a:latin typeface="Calibri"/>
              </a:rPr>
              <a:t>5) No se vio a nadie a cargo ni limpieza en el entorno inmediato del remolque.</a:t>
            </a:r>
          </a:p>
          <a:p>
            <a:pPr>
              <a:spcAft>
                <a:spcPts val="150"/>
              </a:spcAft>
            </a:pPr>
            <a:r>
              <a:rPr sz="900" b="1" i="0">
                <a:solidFill>
                  <a:srgbClr val="1F2937"/>
                </a:solidFill>
                <a:latin typeface="Calibri"/>
              </a:rPr>
              <a:t>Comparte: </a:t>
            </a:r>
            <a:r>
              <a:rPr sz="900" b="0" i="0">
                <a:solidFill>
                  <a:srgbClr val="1F2937"/>
                </a:solidFill>
                <a:latin typeface="Calibri"/>
              </a:rPr>
              <a:t>espacio público y residuos con el entorno.</a:t>
            </a:r>
          </a:p>
        </p:txBody>
      </p:sp>
      <p:sp>
        <p:nvSpPr>
          <p:cNvPr id="18" name="Shape 16"/>
          <p:cNvSpPr/>
          <p:nvPr/>
        </p:nvSpPr>
        <p:spPr>
          <a:xfrm>
            <a:off x="4389120" y="1143000"/>
            <a:ext cx="3413760" cy="2100000"/>
          </a:xfrm>
          <a:prstGeom prst="roundRect">
            <a:avLst>
              <a:gd name="adj" fmla="val 6316"/>
            </a:avLst>
          </a:prstGeom>
          <a:solidFill>
            <a:srgbClr val="F4F7FC"/>
          </a:solidFill>
          <a:ln w="12700">
            <a:solidFill>
              <a:srgbClr val="C8D3E6"/>
            </a:solidFill>
            <a:prstDash val="solid"/>
          </a:ln>
        </p:spPr>
        <p:txBody>
          <a:bodyPr/>
          <a:lstStyle/>
          <a:p>
            <a:endParaRPr lang="es-CO"/>
          </a:p>
        </p:txBody>
      </p:sp>
      <p:sp>
        <p:nvSpPr>
          <p:cNvPr id="19" name="Text 17"/>
          <p:cNvSpPr txBox="1"/>
          <p:nvPr/>
        </p:nvSpPr>
        <p:spPr>
          <a:xfrm>
            <a:off x="4498848" y="1216152"/>
            <a:ext cx="3194304" cy="237744"/>
          </a:xfrm>
          <a:prstGeom prst="rect">
            <a:avLst/>
          </a:prstGeom>
          <a:noFill/>
          <a:ln/>
        </p:spPr>
        <p:txBody>
          <a:bodyPr wrap="square" lIns="0" tIns="0" rIns="0" bIns="0" rtlCol="0" anchor="ctr"/>
          <a:lstStyle/>
          <a:p>
            <a:pPr marL="0" indent="0">
              <a:buNone/>
            </a:pPr>
            <a:r>
              <a:rPr lang="en-US" sz="1050" b="1" kern="0" spc="50">
                <a:solidFill>
                  <a:srgbClr val="2557D6"/>
                </a:solidFill>
                <a:latin typeface="Calibri" pitchFamily="34" charset="0"/>
                <a:ea typeface="Calibri" pitchFamily="34" charset="-122"/>
                <a:cs typeface="Calibri" pitchFamily="34" charset="-120"/>
              </a:rPr>
              <a:t>LUGAR OBSERVADO Y CONTEXTO</a:t>
            </a:r>
            <a:endParaRPr lang="en-US" sz="1050"/>
          </a:p>
        </p:txBody>
      </p:sp>
      <p:sp>
        <p:nvSpPr>
          <p:cNvPr id="20" name="Text 18"/>
          <p:cNvSpPr txBox="1"/>
          <p:nvPr/>
        </p:nvSpPr>
        <p:spPr>
          <a:xfrm>
            <a:off x="4498848" y="1490472"/>
            <a:ext cx="3194304" cy="1679376"/>
          </a:xfrm>
          <a:prstGeom prst="rect">
            <a:avLst/>
          </a:prstGeom>
          <a:noFill/>
          <a:ln/>
        </p:spPr>
        <p:txBody>
          <a:bodyPr wrap="square" lIns="0" tIns="0" rIns="0" bIns="0" rtlCol="0" anchor="t"/>
          <a:lstStyle/>
          <a:p>
            <a:pPr marL="0" indent="0">
              <a:spcAft>
                <a:spcPts val="150"/>
              </a:spcAft>
              <a:buNone/>
            </a:pPr>
            <a:r>
              <a:rPr sz="950" b="0" i="0">
                <a:solidFill>
                  <a:srgbClr val="1F2937"/>
                </a:solidFill>
                <a:latin typeface="Calibri"/>
              </a:rPr>
              <a:t>Separador arbolado de una avenida de Robledo, Medellín, jueves 29 de octubre de 2026, de 12:30 p. m. a 1:00 p. m. Con tráfico de buses y taxis. Hay residuos mezclados (bolsas, vasos, empaques, colillas, trapos) en la base de los árboles, el sardinel y la calzada. No hay canecas ni punto de acopio a la vista. Un remolque con aviso de bar, cerrado durante la observación, ocupa el borde del separador. No pasó el carro recolector ni personal de barrido, y no se vio ningún reciclador.</a:t>
            </a:r>
            <a:endParaRPr lang="en-US" sz="1000"/>
          </a:p>
        </p:txBody>
      </p:sp>
      <p:sp>
        <p:nvSpPr>
          <p:cNvPr id="21" name="Shape 19"/>
          <p:cNvSpPr/>
          <p:nvPr/>
        </p:nvSpPr>
        <p:spPr>
          <a:xfrm>
            <a:off x="4389120" y="3380160"/>
            <a:ext cx="3413760" cy="2319840"/>
          </a:xfrm>
          <a:prstGeom prst="roundRect">
            <a:avLst>
              <a:gd name="adj" fmla="val 4511"/>
            </a:avLst>
          </a:prstGeom>
          <a:solidFill>
            <a:srgbClr val="EEF1F6"/>
          </a:solidFill>
          <a:ln w="12700">
            <a:solidFill>
              <a:srgbClr val="C8D3E6"/>
            </a:solidFill>
            <a:prstDash val="solid"/>
          </a:ln>
        </p:spPr>
        <p:txBody>
          <a:bodyPr/>
          <a:lstStyle/>
          <a:p>
            <a:endParaRPr lang="es-CO"/>
          </a:p>
        </p:txBody>
      </p:sp>
      <p:sp>
        <p:nvSpPr>
          <p:cNvPr id="22" name="Text 20"/>
          <p:cNvSpPr txBox="1"/>
          <p:nvPr/>
        </p:nvSpPr>
        <p:spPr>
          <a:xfrm>
            <a:off x="4498848" y="3453312"/>
            <a:ext cx="3194304" cy="237744"/>
          </a:xfrm>
          <a:prstGeom prst="rect">
            <a:avLst/>
          </a:prstGeom>
          <a:noFill/>
          <a:ln/>
        </p:spPr>
        <p:txBody>
          <a:bodyPr wrap="square" lIns="0" tIns="0" rIns="0" bIns="0" rtlCol="0" anchor="ctr"/>
          <a:lstStyle/>
          <a:p>
            <a:pPr marL="0" indent="0">
              <a:buNone/>
            </a:pPr>
            <a:r>
              <a:rPr lang="en-US" sz="1050" b="1" kern="0" spc="50">
                <a:solidFill>
                  <a:srgbClr val="2557D6"/>
                </a:solidFill>
                <a:latin typeface="Calibri" pitchFamily="34" charset="0"/>
                <a:ea typeface="Calibri" pitchFamily="34" charset="-122"/>
                <a:cs typeface="Calibri" pitchFamily="34" charset="-120"/>
              </a:rPr>
              <a:t>FOTO DEL LUGAR</a:t>
            </a:r>
            <a:endParaRPr lang="en-US" sz="1050"/>
          </a:p>
        </p:txBody>
      </p:sp>
      <p:sp>
        <p:nvSpPr>
          <p:cNvPr id="24" name="Shape 22"/>
          <p:cNvSpPr/>
          <p:nvPr/>
        </p:nvSpPr>
        <p:spPr>
          <a:xfrm>
            <a:off x="457200" y="3380160"/>
            <a:ext cx="3566160" cy="2319840"/>
          </a:xfrm>
          <a:prstGeom prst="roundRect">
            <a:avLst>
              <a:gd name="adj" fmla="val 2927"/>
            </a:avLst>
          </a:prstGeom>
          <a:solidFill>
            <a:srgbClr val="F4F7FC"/>
          </a:solidFill>
          <a:ln w="12700">
            <a:solidFill>
              <a:srgbClr val="C8D3E6"/>
            </a:solidFill>
            <a:prstDash val="solid"/>
          </a:ln>
        </p:spPr>
        <p:txBody>
          <a:bodyPr/>
          <a:lstStyle/>
          <a:p>
            <a:endParaRPr lang="es-CO"/>
          </a:p>
        </p:txBody>
      </p:sp>
      <p:sp>
        <p:nvSpPr>
          <p:cNvPr id="25" name="Text 23"/>
          <p:cNvSpPr txBox="1"/>
          <p:nvPr/>
        </p:nvSpPr>
        <p:spPr>
          <a:xfrm>
            <a:off x="566928" y="3453312"/>
            <a:ext cx="3346704" cy="237744"/>
          </a:xfrm>
          <a:prstGeom prst="rect">
            <a:avLst/>
          </a:prstGeom>
          <a:noFill/>
          <a:ln/>
        </p:spPr>
        <p:txBody>
          <a:bodyPr wrap="square" lIns="0" tIns="0" rIns="0" bIns="0" rtlCol="0" anchor="ctr"/>
          <a:lstStyle/>
          <a:p>
            <a:pPr marL="0" indent="0">
              <a:buNone/>
            </a:pPr>
            <a:r>
              <a:rPr lang="en-US" sz="1050" b="1" kern="0" spc="50">
                <a:solidFill>
                  <a:srgbClr val="2557D6"/>
                </a:solidFill>
                <a:latin typeface="Calibri" pitchFamily="34" charset="0"/>
                <a:ea typeface="Calibri" pitchFamily="34" charset="-122"/>
                <a:cs typeface="Calibri" pitchFamily="34" charset="-120"/>
              </a:rPr>
              <a:t>ACTOR CLAVE 3</a:t>
            </a:r>
            <a:endParaRPr lang="en-US" sz="1050"/>
          </a:p>
        </p:txBody>
      </p:sp>
      <p:sp>
        <p:nvSpPr>
          <p:cNvPr id="26" name="Text 24"/>
          <p:cNvSpPr txBox="1"/>
          <p:nvPr/>
        </p:nvSpPr>
        <p:spPr>
          <a:xfrm>
            <a:off x="566928" y="3727632"/>
            <a:ext cx="3346704" cy="1899216"/>
          </a:xfrm>
          <a:prstGeom prst="rect">
            <a:avLst/>
          </a:prstGeom>
          <a:noFill/>
          <a:ln/>
        </p:spPr>
        <p:txBody>
          <a:bodyPr wrap="square" lIns="0" tIns="0" rIns="0" bIns="0" rtlCol="0" anchor="t"/>
          <a:lstStyle/>
          <a:p>
            <a:pPr marL="0" indent="0">
              <a:spcAft>
                <a:spcPts val="150"/>
              </a:spcAft>
              <a:buNone/>
            </a:pPr>
            <a:r>
              <a:rPr sz="900" b="1" i="0">
                <a:solidFill>
                  <a:srgbClr val="1F2937"/>
                </a:solidFill>
                <a:latin typeface="Calibri"/>
              </a:rPr>
              <a:t>Conductores de bus y taxi</a:t>
            </a:r>
            <a:endParaRPr lang="en-US" sz="1050"/>
          </a:p>
          <a:p>
            <a:pPr>
              <a:spcAft>
                <a:spcPts val="150"/>
              </a:spcAft>
            </a:pPr>
            <a:r>
              <a:rPr sz="900" b="1" i="0">
                <a:solidFill>
                  <a:srgbClr val="1F2937"/>
                </a:solidFill>
                <a:latin typeface="Calibri"/>
              </a:rPr>
              <a:t>Función: </a:t>
            </a:r>
            <a:r>
              <a:rPr sz="900" b="0" i="0">
                <a:solidFill>
                  <a:srgbClr val="1F2937"/>
                </a:solidFill>
                <a:latin typeface="Calibri"/>
              </a:rPr>
              <a:t>se movilizan o paran junto al separador.</a:t>
            </a:r>
          </a:p>
          <a:p>
            <a:pPr>
              <a:spcAft>
                <a:spcPts val="150"/>
              </a:spcAft>
            </a:pPr>
            <a:r>
              <a:rPr sz="900" b="1" i="0">
                <a:solidFill>
                  <a:srgbClr val="1F2937"/>
                </a:solidFill>
                <a:latin typeface="Calibri"/>
              </a:rPr>
              <a:t>Acciones:</a:t>
            </a:r>
          </a:p>
          <a:p>
            <a:pPr>
              <a:spcAft>
                <a:spcPts val="150"/>
              </a:spcAft>
            </a:pPr>
            <a:r>
              <a:rPr sz="900" b="0" i="0">
                <a:solidFill>
                  <a:srgbClr val="1F2937"/>
                </a:solidFill>
                <a:latin typeface="Calibri"/>
              </a:rPr>
              <a:t>1) Circulan por la calzada.</a:t>
            </a:r>
          </a:p>
          <a:p>
            <a:pPr>
              <a:spcAft>
                <a:spcPts val="150"/>
              </a:spcAft>
            </a:pPr>
            <a:r>
              <a:rPr sz="900" b="0" i="0">
                <a:solidFill>
                  <a:srgbClr val="1F2937"/>
                </a:solidFill>
                <a:latin typeface="Calibri"/>
              </a:rPr>
              <a:t>2) Se detienen o recogen pasajeros.</a:t>
            </a:r>
          </a:p>
          <a:p>
            <a:pPr>
              <a:spcAft>
                <a:spcPts val="150"/>
              </a:spcAft>
            </a:pPr>
            <a:r>
              <a:rPr sz="900" b="0" i="0">
                <a:solidFill>
                  <a:srgbClr val="1F2937"/>
                </a:solidFill>
                <a:latin typeface="Calibri"/>
              </a:rPr>
              <a:t>3) Parquean en el borde.</a:t>
            </a:r>
          </a:p>
          <a:p>
            <a:pPr>
              <a:spcAft>
                <a:spcPts val="150"/>
              </a:spcAft>
            </a:pPr>
            <a:r>
              <a:rPr sz="900" b="0" i="0">
                <a:solidFill>
                  <a:srgbClr val="1F2937"/>
                </a:solidFill>
                <a:latin typeface="Calibri"/>
              </a:rPr>
              <a:t>4) Arrojan residuos desde el vehículo.</a:t>
            </a:r>
          </a:p>
          <a:p>
            <a:pPr>
              <a:spcAft>
                <a:spcPts val="150"/>
              </a:spcAft>
            </a:pPr>
            <a:r>
              <a:rPr sz="900" b="0" i="0">
                <a:solidFill>
                  <a:srgbClr val="1F2937"/>
                </a:solidFill>
                <a:latin typeface="Calibri"/>
              </a:rPr>
              <a:t>5) Transitan o permanecen en la vía contigua, a pocos metros de los residuos acumulados, sin ninguna caneca cerca.</a:t>
            </a:r>
          </a:p>
          <a:p>
            <a:pPr>
              <a:spcAft>
                <a:spcPts val="150"/>
              </a:spcAft>
            </a:pPr>
            <a:r>
              <a:rPr sz="900" b="1" i="0">
                <a:solidFill>
                  <a:srgbClr val="1F2937"/>
                </a:solidFill>
                <a:latin typeface="Calibri"/>
              </a:rPr>
              <a:t>Comparte: </a:t>
            </a:r>
            <a:r>
              <a:rPr sz="900" b="0" i="0">
                <a:solidFill>
                  <a:srgbClr val="1F2937"/>
                </a:solidFill>
                <a:latin typeface="Calibri"/>
              </a:rPr>
              <a:t>la calzada y el borde del separador con peatones y con la basura.</a:t>
            </a:r>
          </a:p>
        </p:txBody>
      </p:sp>
      <p:sp>
        <p:nvSpPr>
          <p:cNvPr id="30" name="Shape 28"/>
          <p:cNvSpPr/>
          <p:nvPr/>
        </p:nvSpPr>
        <p:spPr>
          <a:xfrm>
            <a:off x="8165592" y="3380160"/>
            <a:ext cx="3566160" cy="2319840"/>
          </a:xfrm>
          <a:prstGeom prst="roundRect">
            <a:avLst>
              <a:gd name="adj" fmla="val 2927"/>
            </a:avLst>
          </a:prstGeom>
          <a:solidFill>
            <a:srgbClr val="F4F7FC"/>
          </a:solidFill>
          <a:ln w="12700">
            <a:solidFill>
              <a:srgbClr val="C8D3E6"/>
            </a:solidFill>
            <a:prstDash val="solid"/>
          </a:ln>
        </p:spPr>
        <p:txBody>
          <a:bodyPr/>
          <a:lstStyle/>
          <a:p>
            <a:endParaRPr lang="es-CO"/>
          </a:p>
        </p:txBody>
      </p:sp>
      <p:sp>
        <p:nvSpPr>
          <p:cNvPr id="31" name="Text 29"/>
          <p:cNvSpPr txBox="1"/>
          <p:nvPr/>
        </p:nvSpPr>
        <p:spPr>
          <a:xfrm>
            <a:off x="8275320" y="3453312"/>
            <a:ext cx="3346704" cy="237744"/>
          </a:xfrm>
          <a:prstGeom prst="rect">
            <a:avLst/>
          </a:prstGeom>
          <a:noFill/>
          <a:ln/>
        </p:spPr>
        <p:txBody>
          <a:bodyPr wrap="square" lIns="0" tIns="0" rIns="0" bIns="0" rtlCol="0" anchor="ctr"/>
          <a:lstStyle/>
          <a:p>
            <a:pPr marL="0" indent="0">
              <a:buNone/>
            </a:pPr>
            <a:r>
              <a:rPr lang="en-US" sz="1050" b="1" kern="0" spc="50">
                <a:solidFill>
                  <a:srgbClr val="2557D6"/>
                </a:solidFill>
                <a:latin typeface="Calibri" pitchFamily="34" charset="0"/>
                <a:ea typeface="Calibri" pitchFamily="34" charset="-122"/>
                <a:cs typeface="Calibri" pitchFamily="34" charset="-120"/>
              </a:rPr>
              <a:t>FOTO · REMOLQUE (ACTOR 2)</a:t>
            </a:r>
            <a:endParaRPr lang="en-US" sz="1050"/>
          </a:p>
        </p:txBody>
      </p:sp>
      <p:sp>
        <p:nvSpPr>
          <p:cNvPr id="33" name="Shape 31"/>
          <p:cNvSpPr/>
          <p:nvPr/>
        </p:nvSpPr>
        <p:spPr>
          <a:xfrm>
            <a:off x="457200" y="5800000"/>
            <a:ext cx="11274552" cy="600000"/>
          </a:xfrm>
          <a:prstGeom prst="roundRect">
            <a:avLst>
              <a:gd name="adj" fmla="val 6818"/>
            </a:avLst>
          </a:prstGeom>
          <a:solidFill>
            <a:srgbClr val="F4F7FC"/>
          </a:solidFill>
          <a:ln w="12700">
            <a:solidFill>
              <a:srgbClr val="C8D3E6"/>
            </a:solidFill>
            <a:prstDash val="solid"/>
          </a:ln>
        </p:spPr>
        <p:txBody>
          <a:bodyPr/>
          <a:lstStyle/>
          <a:p>
            <a:endParaRPr lang="es-CO"/>
          </a:p>
        </p:txBody>
      </p:sp>
      <p:sp>
        <p:nvSpPr>
          <p:cNvPr id="34" name="Text 32"/>
          <p:cNvSpPr txBox="1"/>
          <p:nvPr/>
        </p:nvSpPr>
        <p:spPr>
          <a:xfrm>
            <a:off x="566928" y="5840000"/>
            <a:ext cx="11055096" cy="200000"/>
          </a:xfrm>
          <a:prstGeom prst="rect">
            <a:avLst/>
          </a:prstGeom>
          <a:noFill/>
          <a:ln/>
        </p:spPr>
        <p:txBody>
          <a:bodyPr wrap="square" lIns="0" tIns="0" rIns="0" bIns="0" rtlCol="0" anchor="ctr"/>
          <a:lstStyle/>
          <a:p>
            <a:pPr marL="0" indent="0">
              <a:buNone/>
            </a:pPr>
            <a:r>
              <a:rPr lang="en-US" sz="1050" b="1" kern="0" spc="50">
                <a:solidFill>
                  <a:srgbClr val="2557D6"/>
                </a:solidFill>
                <a:latin typeface="Calibri" pitchFamily="34" charset="0"/>
                <a:ea typeface="Calibri" pitchFamily="34" charset="-122"/>
                <a:cs typeface="Calibri" pitchFamily="34" charset="-120"/>
              </a:rPr>
              <a:t>CONVENCIONES</a:t>
            </a:r>
            <a:endParaRPr lang="en-US" sz="1050"/>
          </a:p>
        </p:txBody>
      </p:sp>
      <p:sp>
        <p:nvSpPr>
          <p:cNvPr id="35" name="Text 33"/>
          <p:cNvSpPr txBox="1"/>
          <p:nvPr/>
        </p:nvSpPr>
        <p:spPr>
          <a:xfrm>
            <a:off x="566928" y="6050000"/>
            <a:ext cx="11055096" cy="330000"/>
          </a:xfrm>
          <a:prstGeom prst="rect">
            <a:avLst/>
          </a:prstGeom>
          <a:noFill/>
          <a:ln/>
        </p:spPr>
        <p:txBody>
          <a:bodyPr wrap="square" lIns="0" tIns="0" rIns="0" bIns="0" rtlCol="0" anchor="t"/>
          <a:lstStyle/>
          <a:p>
            <a:pPr marL="0" indent="0">
              <a:spcAft>
                <a:spcPts val="150"/>
              </a:spcAft>
              <a:buNone/>
            </a:pPr>
            <a:r>
              <a:rPr sz="950" b="0" i="0">
                <a:solidFill>
                  <a:srgbClr val="1F2937"/>
                </a:solidFill>
                <a:latin typeface="Calibri"/>
              </a:rPr>
              <a:t>Línea continua = objetos o espacio que el actor comparte con el lugar observado (residuos, calzada, borde del separador) · discontinua = información · punteada = dinero. En esta observación solo se usaron líneas continuas.</a:t>
            </a:r>
            <a:endParaRPr lang="en-US" sz="1000"/>
          </a:p>
        </p:txBody>
      </p:sp>
      <p:sp>
        <p:nvSpPr>
          <p:cNvPr id="36" name="Slide Number Placeholder 0"/>
          <p:cNvSpPr>
            <a:spLocks noGrp="1"/>
          </p:cNvSpPr>
          <p:nvPr>
            <p:ph type="sldNum" sz="quarter" idx="4294967295"/>
          </p:nvPr>
        </p:nvSpPr>
        <p:spPr>
          <a:xfrm>
            <a:off x="9464040" y="6483096"/>
            <a:ext cx="54864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B8DC0E"/>
                </a:solidFill>
                <a:latin typeface="Calibri"/>
                <a:ea typeface="Calibri"/>
                <a:cs typeface="Calibri"/>
              </a:defRPr>
            </a:lvl1pPr>
          </a:lstStyle>
          <a:p>
            <a:pPr algn="r"/>
            <a:fld id="{F7021451-1387-4CA6-816F-3879F97B5CBC}" type="slidenum">
              <a:rPr lang="en-US" b="0"/>
              <a:t>2</a:t>
            </a:fld>
            <a:endParaRPr lang="en-US"/>
          </a:p>
        </p:txBody>
      </p:sp>
      <p:sp>
        <p:nvSpPr>
          <p:cNvPr id="39" name="TextBox 38">
            <a:extLst>
              <a:ext uri="{FF2B5EF4-FFF2-40B4-BE49-F238E27FC236}">
                <a16:creationId xmlns:a16="http://schemas.microsoft.com/office/drawing/2014/main" id="{BA047424-D64C-C9D4-DFED-4C616995061F}"/>
              </a:ext>
            </a:extLst>
          </p:cNvPr>
          <p:cNvSpPr txBox="1"/>
          <p:nvPr/>
        </p:nvSpPr>
        <p:spPr>
          <a:xfrm>
            <a:off x="9537192" y="500000"/>
            <a:ext cx="2103120"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950" i="0" b="1">
                <a:solidFill>
                  <a:srgbClr val="1F2937"/>
                </a:solidFill>
                <a:ea typeface="Calibri"/>
                <a:cs typeface="Calibri"/>
              </a:rPr>
              <a:t>Reto 2 · ODS 11 · Medellín (Robledo)</a:t>
            </a:r>
          </a:p>
        </p:txBody>
      </p:sp>
      <p:pic>
        <p:nvPicPr>
          <p:cNvPr id="40" name="Picture 39" descr="foto1.jpg"/>
          <p:cNvPicPr>
            <a:picLocks noChangeAspect="1"/>
          </p:cNvPicPr>
          <p:nvPr/>
        </p:nvPicPr>
        <p:blipFill>
          <a:blip r:embed="rId3"/>
          <a:stretch>
            <a:fillRect/>
          </a:stretch>
        </p:blipFill>
        <p:spPr>
          <a:xfrm>
            <a:off x="4496000" y="3727632"/>
            <a:ext cx="3200000" cy="1800000"/>
          </a:xfrm>
          <a:prstGeom prst="rect">
            <a:avLst/>
          </a:prstGeom>
        </p:spPr>
      </p:pic>
      <p:pic>
        <p:nvPicPr>
          <p:cNvPr id="41" name="Picture 40" descr="foto3.jpg"/>
          <p:cNvPicPr>
            <a:picLocks noChangeAspect="1"/>
          </p:cNvPicPr>
          <p:nvPr/>
        </p:nvPicPr>
        <p:blipFill>
          <a:blip r:embed="rId4"/>
          <a:stretch>
            <a:fillRect/>
          </a:stretch>
        </p:blipFill>
        <p:spPr>
          <a:xfrm>
            <a:off x="8348672" y="3727632"/>
            <a:ext cx="3200000" cy="1800000"/>
          </a:xfrm>
          <a:prstGeom prst="rect">
            <a:avLst/>
          </a:prstGeom>
        </p:spPr>
      </p:pic>
      <p:cxnSp>
        <p:nvCxnSpPr>
          <p:cNvPr id="42" name="Connector 41"/>
          <p:cNvCxnSpPr/>
          <p:nvPr/>
        </p:nvCxnSpPr>
        <p:spPr>
          <a:xfrm>
            <a:off x="4023360" y="2193000"/>
            <a:ext cx="365760" cy="0"/>
          </a:xfrm>
          <a:prstGeom prst="line">
            <a:avLst/>
          </a:prstGeom>
          <a:ln w="28575">
            <a:solidFill>
              <a:srgbClr val="2557D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a:off x="7802880" y="2193000"/>
            <a:ext cx="362712" cy="0"/>
          </a:xfrm>
          <a:prstGeom prst="line">
            <a:avLst/>
          </a:prstGeom>
          <a:ln w="28575">
            <a:solidFill>
              <a:srgbClr val="2557D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4023360" y="4540080"/>
            <a:ext cx="365760" cy="0"/>
          </a:xfrm>
          <a:prstGeom prst="line">
            <a:avLst/>
          </a:prstGeom>
          <a:ln w="28575">
            <a:solidFill>
              <a:srgbClr val="2557D6"/>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457200" y="292608"/>
            <a:ext cx="566928" cy="566928"/>
          </a:xfrm>
          <a:prstGeom prst="ellipse">
            <a:avLst/>
          </a:prstGeom>
          <a:solidFill>
            <a:srgbClr val="B8DC0E"/>
          </a:solidFill>
          <a:ln w="12700">
            <a:solidFill>
              <a:srgbClr val="B8DC0E"/>
            </a:solidFill>
            <a:prstDash val="solid"/>
          </a:ln>
        </p:spPr>
        <p:txBody>
          <a:bodyPr/>
          <a:lstStyle/>
          <a:p>
            <a:endParaRPr lang="es-CO"/>
          </a:p>
        </p:txBody>
      </p:sp>
      <p:sp>
        <p:nvSpPr>
          <p:cNvPr id="3" name="Text 1"/>
          <p:cNvSpPr txBox="1"/>
          <p:nvPr/>
        </p:nvSpPr>
        <p:spPr>
          <a:xfrm>
            <a:off x="457200" y="292608"/>
            <a:ext cx="566928" cy="566928"/>
          </a:xfrm>
          <a:prstGeom prst="rect">
            <a:avLst/>
          </a:prstGeom>
          <a:noFill/>
          <a:ln/>
        </p:spPr>
        <p:txBody>
          <a:bodyPr wrap="square" lIns="0" tIns="0" rIns="0" bIns="0" rtlCol="0" anchor="ctr"/>
          <a:lstStyle/>
          <a:p>
            <a:pPr marL="0" indent="0" algn="ctr">
              <a:buNone/>
            </a:pPr>
            <a:r>
              <a:rPr lang="en-US" sz="2400" b="1">
                <a:solidFill>
                  <a:srgbClr val="0A1D4A"/>
                </a:solidFill>
                <a:latin typeface="Arial" pitchFamily="34" charset="0"/>
                <a:ea typeface="Arial" pitchFamily="34" charset="-122"/>
                <a:cs typeface="Arial" pitchFamily="34" charset="-120"/>
              </a:rPr>
              <a:t>G</a:t>
            </a:r>
            <a:endParaRPr lang="en-US" sz="2400"/>
          </a:p>
        </p:txBody>
      </p:sp>
      <p:sp>
        <p:nvSpPr>
          <p:cNvPr id="4" name="Text 2"/>
          <p:cNvSpPr txBox="1"/>
          <p:nvPr/>
        </p:nvSpPr>
        <p:spPr>
          <a:xfrm>
            <a:off x="1170432" y="246888"/>
            <a:ext cx="6309360" cy="411480"/>
          </a:xfrm>
          <a:prstGeom prst="rect">
            <a:avLst/>
          </a:prstGeom>
          <a:noFill/>
          <a:ln/>
        </p:spPr>
        <p:txBody>
          <a:bodyPr wrap="square" lIns="0" tIns="0" rIns="0" bIns="0" rtlCol="0" anchor="ctr"/>
          <a:lstStyle/>
          <a:p>
            <a:pPr marL="0" indent="0">
              <a:buNone/>
            </a:pPr>
            <a:r>
              <a:rPr lang="en-US" sz="2400" b="1">
                <a:solidFill>
                  <a:srgbClr val="0A1D4A"/>
                </a:solidFill>
                <a:latin typeface="Arial" pitchFamily="34" charset="0"/>
                <a:ea typeface="Arial" pitchFamily="34" charset="-122"/>
                <a:cs typeface="Arial" pitchFamily="34" charset="-120"/>
              </a:rPr>
              <a:t>Brief</a:t>
            </a:r>
            <a:endParaRPr lang="en-US" sz="2400"/>
          </a:p>
        </p:txBody>
      </p:sp>
      <p:sp>
        <p:nvSpPr>
          <p:cNvPr id="5" name="Text 3"/>
          <p:cNvSpPr txBox="1"/>
          <p:nvPr/>
        </p:nvSpPr>
        <p:spPr>
          <a:xfrm>
            <a:off x="1170432" y="676656"/>
            <a:ext cx="6309360" cy="274320"/>
          </a:xfrm>
          <a:prstGeom prst="rect">
            <a:avLst/>
          </a:prstGeom>
          <a:noFill/>
          <a:ln/>
        </p:spPr>
        <p:txBody>
          <a:bodyPr wrap="square" lIns="0" tIns="0" rIns="0" bIns="0" rtlCol="0" anchor="ctr"/>
          <a:lstStyle/>
          <a:p>
            <a:pPr marL="0" indent="0">
              <a:buNone/>
              <a:spcAft>
                <a:spcPts val="200"/>
              </a:spcAft>
            </a:pPr>
            <a:r>
              <a:rPr lang="es-CO" sz="1100" dirty="0">
                <a:solidFill>
                  <a:srgbClr val="1F2A44"/>
                </a:solidFill>
                <a:latin typeface="Calibri" pitchFamily="34" charset="0"/>
                <a:ea typeface="Calibri" pitchFamily="34" charset="-122"/>
                <a:cs typeface="Calibri" pitchFamily="34" charset="-120"/>
              </a:rPr>
              <a:t xml:space="preserve">Versión:  ☐ Inicial (cierre de G)   ☒ Ajustada después de entrevistas y fuentes (E)</a:t>
            </a:r>
            <a:endParaRPr lang="es-CO" sz="1100"/>
          </a:p>
        </p:txBody>
      </p:sp>
      <p:sp>
        <p:nvSpPr>
          <p:cNvPr id="6" name="Shape 4"/>
          <p:cNvSpPr/>
          <p:nvPr/>
        </p:nvSpPr>
        <p:spPr>
          <a:xfrm>
            <a:off x="7635240" y="274320"/>
            <a:ext cx="1691640" cy="621792"/>
          </a:xfrm>
          <a:prstGeom prst="roundRect">
            <a:avLst>
              <a:gd name="adj" fmla="val 8824"/>
            </a:avLst>
          </a:prstGeom>
          <a:solidFill>
            <a:srgbClr val="F4F7FC"/>
          </a:solidFill>
          <a:ln w="12700">
            <a:solidFill>
              <a:srgbClr val="C8D3E6"/>
            </a:solidFill>
            <a:prstDash val="solid"/>
          </a:ln>
        </p:spPr>
        <p:txBody>
          <a:bodyPr/>
          <a:lstStyle/>
          <a:p>
            <a:endParaRPr lang="es-CO"/>
          </a:p>
        </p:txBody>
      </p:sp>
      <p:sp>
        <p:nvSpPr>
          <p:cNvPr id="7" name="Text 5"/>
          <p:cNvSpPr txBox="1"/>
          <p:nvPr/>
        </p:nvSpPr>
        <p:spPr>
          <a:xfrm>
            <a:off x="7726680" y="320040"/>
            <a:ext cx="1508760" cy="182880"/>
          </a:xfrm>
          <a:prstGeom prst="rect">
            <a:avLst/>
          </a:prstGeom>
          <a:noFill/>
          <a:ln/>
        </p:spPr>
        <p:txBody>
          <a:bodyPr wrap="square" lIns="0" tIns="0" rIns="0" bIns="0" rtlCol="0" anchor="ctr"/>
          <a:lstStyle/>
          <a:p>
            <a:pPr marL="0" indent="0">
              <a:buNone/>
            </a:pPr>
            <a:r>
              <a:rPr lang="en-US" sz="900" b="1">
                <a:solidFill>
                  <a:srgbClr val="2557D6"/>
                </a:solidFill>
                <a:latin typeface="Calibri" pitchFamily="34" charset="0"/>
                <a:ea typeface="Calibri" pitchFamily="34" charset="-122"/>
                <a:cs typeface="Calibri" pitchFamily="34" charset="-120"/>
              </a:rPr>
              <a:t>EQUIPO</a:t>
            </a:r>
            <a:endParaRPr lang="en-US" sz="900"/>
          </a:p>
        </p:txBody>
      </p:sp>
      <p:sp>
        <p:nvSpPr>
          <p:cNvPr id="8" name="Text 6"/>
          <p:cNvSpPr txBox="1"/>
          <p:nvPr/>
        </p:nvSpPr>
        <p:spPr>
          <a:xfrm>
            <a:off x="7726680" y="521208"/>
            <a:ext cx="1508760" cy="310896"/>
          </a:xfrm>
          <a:prstGeom prst="rect">
            <a:avLst/>
          </a:prstGeom>
          <a:noFill/>
          <a:ln/>
        </p:spPr>
        <p:txBody>
          <a:bodyPr wrap="square" lIns="0" tIns="0" rIns="0" bIns="0" rtlCol="0" anchor="ctr">
            <a:normAutofit/>
          </a:bodyPr>
          <a:lstStyle/>
          <a:p>
            <a:pPr marL="0" indent="0">
              <a:buNone/>
              <a:spcAft>
                <a:spcPts val="200"/>
              </a:spcAft>
            </a:pPr>
            <a:r>
              <a:rPr lang="es-CO" sz="1100" dirty="0">
                <a:solidFill>
                  <a:srgbClr val="1F2A44"/>
                </a:solidFill>
                <a:latin typeface="Calibri" pitchFamily="34" charset="0"/>
                <a:ea typeface="Calibri" pitchFamily="34" charset="-122"/>
                <a:cs typeface="Calibri" pitchFamily="34" charset="-120"/>
              </a:rPr>
              <a:t xml:space="preserve">Equipo 08</a:t>
            </a:r>
            <a:endParaRPr lang="es-CO" sz="1100"/>
          </a:p>
        </p:txBody>
      </p:sp>
      <p:sp>
        <p:nvSpPr>
          <p:cNvPr id="9" name="Shape 7"/>
          <p:cNvSpPr/>
          <p:nvPr/>
        </p:nvSpPr>
        <p:spPr>
          <a:xfrm>
            <a:off x="9445752" y="274320"/>
            <a:ext cx="2286000" cy="621792"/>
          </a:xfrm>
          <a:prstGeom prst="roundRect">
            <a:avLst>
              <a:gd name="adj" fmla="val 8824"/>
            </a:avLst>
          </a:prstGeom>
          <a:solidFill>
            <a:srgbClr val="F4F7FC"/>
          </a:solidFill>
          <a:ln w="12700">
            <a:solidFill>
              <a:srgbClr val="C8D3E6"/>
            </a:solidFill>
            <a:prstDash val="solid"/>
          </a:ln>
        </p:spPr>
        <p:txBody>
          <a:bodyPr/>
          <a:lstStyle/>
          <a:p>
            <a:endParaRPr lang="es-CO"/>
          </a:p>
        </p:txBody>
      </p:sp>
      <p:sp>
        <p:nvSpPr>
          <p:cNvPr id="10" name="Text 8"/>
          <p:cNvSpPr txBox="1"/>
          <p:nvPr/>
        </p:nvSpPr>
        <p:spPr>
          <a:xfrm>
            <a:off x="9537192" y="320040"/>
            <a:ext cx="2103120" cy="182880"/>
          </a:xfrm>
          <a:prstGeom prst="rect">
            <a:avLst/>
          </a:prstGeom>
          <a:noFill/>
          <a:ln/>
        </p:spPr>
        <p:txBody>
          <a:bodyPr wrap="square" lIns="0" tIns="0" rIns="0" bIns="0" rtlCol="0" anchor="ctr"/>
          <a:lstStyle/>
          <a:p>
            <a:pPr marL="0" indent="0">
              <a:buNone/>
            </a:pPr>
            <a:r>
              <a:rPr lang="en-US" sz="900" b="1">
                <a:solidFill>
                  <a:srgbClr val="2557D6"/>
                </a:solidFill>
                <a:latin typeface="Calibri" pitchFamily="34" charset="0"/>
                <a:ea typeface="Calibri" pitchFamily="34" charset="-122"/>
                <a:cs typeface="Calibri" pitchFamily="34" charset="-120"/>
              </a:rPr>
              <a:t>RETO Y CIUDAD DE VALIDACIÓN</a:t>
            </a:r>
            <a:endParaRPr lang="en-US" sz="900"/>
          </a:p>
        </p:txBody>
      </p:sp>
      <p:sp>
        <p:nvSpPr>
          <p:cNvPr id="11" name="Text 9"/>
          <p:cNvSpPr txBox="1"/>
          <p:nvPr/>
        </p:nvSpPr>
        <p:spPr>
          <a:xfrm>
            <a:off x="9537192" y="521208"/>
            <a:ext cx="2103120" cy="310896"/>
          </a:xfrm>
          <a:prstGeom prst="rect">
            <a:avLst/>
          </a:prstGeom>
          <a:noFill/>
          <a:ln/>
        </p:spPr>
        <p:txBody>
          <a:bodyPr wrap="square" lIns="0" tIns="0" rIns="0" bIns="0" rtlCol="0" anchor="ctr">
            <a:normAutofit/>
          </a:bodyPr>
          <a:lstStyle/>
          <a:p>
            <a:pPr marL="0" indent="0">
              <a:buNone/>
              <a:spcAft>
                <a:spcPts val="200"/>
              </a:spcAft>
            </a:pPr>
            <a:r>
              <a:rPr lang="es-CO" sz="900" dirty="0">
                <a:solidFill>
                  <a:srgbClr val="1F2A44"/>
                </a:solidFill>
                <a:latin typeface="Calibri" pitchFamily="34" charset="0"/>
                <a:ea typeface="Calibri" pitchFamily="34" charset="-122"/>
                <a:cs typeface="Calibri" pitchFamily="34" charset="-120"/>
              </a:rPr>
              <a:t xml:space="preserve">Reto 2 · ODS 11 · Residuos y espacio público · Medellín, Robledo</a:t>
            </a:r>
            <a:endParaRPr lang="es-CO" sz="900"/>
          </a:p>
        </p:txBody>
      </p:sp>
      <p:sp>
        <p:nvSpPr>
          <p:cNvPr id="12" name="Shape 10"/>
          <p:cNvSpPr/>
          <p:nvPr/>
        </p:nvSpPr>
        <p:spPr>
          <a:xfrm>
            <a:off x="457200" y="1143000"/>
            <a:ext cx="5541264" cy="1600200"/>
          </a:xfrm>
          <a:prstGeom prst="roundRect">
            <a:avLst>
              <a:gd name="adj" fmla="val 3429"/>
            </a:avLst>
          </a:prstGeom>
          <a:solidFill>
            <a:srgbClr val="F4F7FC"/>
          </a:solidFill>
          <a:ln w="12700">
            <a:solidFill>
              <a:srgbClr val="C8D3E6"/>
            </a:solidFill>
            <a:prstDash val="solid"/>
          </a:ln>
        </p:spPr>
        <p:txBody>
          <a:bodyPr/>
          <a:lstStyle/>
          <a:p>
            <a:endParaRPr lang="es-CO"/>
          </a:p>
        </p:txBody>
      </p:sp>
      <p:sp>
        <p:nvSpPr>
          <p:cNvPr id="13" name="Text 11"/>
          <p:cNvSpPr txBox="1"/>
          <p:nvPr/>
        </p:nvSpPr>
        <p:spPr>
          <a:xfrm>
            <a:off x="566928" y="1216152"/>
            <a:ext cx="5321808" cy="237744"/>
          </a:xfrm>
          <a:prstGeom prst="rect">
            <a:avLst/>
          </a:prstGeom>
          <a:noFill/>
          <a:ln/>
        </p:spPr>
        <p:txBody>
          <a:bodyPr wrap="square" lIns="0" tIns="0" rIns="0" bIns="0" rtlCol="0" anchor="ctr"/>
          <a:lstStyle/>
          <a:p>
            <a:pPr marL="0" indent="0">
              <a:buNone/>
            </a:pPr>
            <a:r>
              <a:rPr lang="en-US" sz="1050" b="1" kern="0" spc="50">
                <a:solidFill>
                  <a:srgbClr val="2557D6"/>
                </a:solidFill>
                <a:latin typeface="Calibri" pitchFamily="34" charset="0"/>
                <a:ea typeface="Calibri" pitchFamily="34" charset="-122"/>
                <a:cs typeface="Calibri" pitchFamily="34" charset="-120"/>
              </a:rPr>
              <a:t>HALLAZGOS Y DESCUBRIMIENTOS</a:t>
            </a:r>
            <a:endParaRPr lang="en-US" sz="1050"/>
          </a:p>
        </p:txBody>
      </p:sp>
      <p:sp>
        <p:nvSpPr>
          <p:cNvPr id="14" name="Text 12"/>
          <p:cNvSpPr txBox="1"/>
          <p:nvPr/>
        </p:nvSpPr>
        <p:spPr>
          <a:xfrm>
            <a:off x="566928" y="1490472"/>
            <a:ext cx="5321808" cy="1179576"/>
          </a:xfrm>
          <a:prstGeom prst="rect">
            <a:avLst/>
          </a:prstGeom>
          <a:noFill/>
          <a:ln/>
        </p:spPr>
        <p:txBody>
          <a:bodyPr wrap="square" lIns="0" tIns="0" rIns="0" bIns="0" rtlCol="0" anchor="t">
            <a:normAutofit/>
          </a:bodyPr>
          <a:lstStyle/>
          <a:p>
            <a:pPr marL="114300" indent="-114300">
              <a:buFont typeface="Arial"/>
              <a:buChar char="•"/>
              <a:spcAft>
                <a:spcPts val="200"/>
              </a:spcAft>
            </a:pPr>
            <a:r>
              <a:rPr lang="es-CO" sz="900" dirty="0">
                <a:solidFill>
                  <a:srgbClr val="1F2A44"/>
                </a:solidFill>
                <a:latin typeface="Calibri" pitchFamily="34" charset="0"/>
                <a:ea typeface="Calibri" pitchFamily="34" charset="-122"/>
                <a:cs typeface="Calibri" pitchFamily="34" charset="-120"/>
              </a:rPr>
              <a:t xml:space="preserve">Separador de una avenida de Robledo con residuos mezclados en árboles, sardinel y calzada. No hay canecas ni punto de acopio (observación).</a:t>
            </a:r>
            <a:endParaRPr lang="es-CO" sz="900"/>
          </a:p>
          <a:p>
            <a:pPr marL="114300" indent="-114300">
              <a:buFont typeface="Arial"/>
              <a:buChar char="•"/>
              <a:spcAft>
                <a:spcPts val="200"/>
              </a:spcAft>
            </a:pPr>
            <a:r>
              <a:rPr lang="es-CO" sz="900" dirty="0">
                <a:solidFill>
                  <a:srgbClr val="1F2A44"/>
                </a:solidFill>
                <a:latin typeface="Calibri" pitchFamily="34" charset="0"/>
                <a:ea typeface="Calibri" pitchFamily="34" charset="-122"/>
                <a:cs typeface="Calibri" pitchFamily="34" charset="-120"/>
              </a:rPr>
              <a:t xml:space="preserve">La basura no es solo de los hogares: peatones, conductores, estudiantes y trabajadores también la arrojan (observación y celador).</a:t>
            </a:r>
            <a:endParaRPr lang="es-CO" sz="900"/>
          </a:p>
          <a:p>
            <a:pPr marL="114300" indent="-114300">
              <a:buFont typeface="Arial"/>
              <a:buChar char="•"/>
              <a:spcAft>
                <a:spcPts val="200"/>
              </a:spcAft>
            </a:pPr>
            <a:r>
              <a:rPr lang="es-CO" sz="900" dirty="0">
                <a:solidFill>
                  <a:srgbClr val="1F2A44"/>
                </a:solidFill>
                <a:latin typeface="Calibri" pitchFamily="34" charset="0"/>
                <a:ea typeface="Calibri" pitchFamily="34" charset="-122"/>
                <a:cs typeface="Calibri" pitchFamily="34" charset="-120"/>
              </a:rPr>
              <a:t xml:space="preserve">No hay ningún aviso de días y horarios de recolección; si el carro se pasa, la bolsa se queda en el andén (residente).</a:t>
            </a:r>
            <a:endParaRPr lang="es-CO" sz="900"/>
          </a:p>
          <a:p>
            <a:pPr marL="114300" indent="-114300">
              <a:buFont typeface="Arial"/>
              <a:buChar char="•"/>
              <a:spcAft>
                <a:spcPts val="200"/>
              </a:spcAft>
            </a:pPr>
            <a:r>
              <a:rPr lang="es-CO" sz="900" dirty="0">
                <a:solidFill>
                  <a:srgbClr val="1F2A44"/>
                </a:solidFill>
                <a:latin typeface="Calibri" pitchFamily="34" charset="0"/>
                <a:ea typeface="Calibri" pitchFamily="34" charset="-122"/>
                <a:cs typeface="Calibri" pitchFamily="34" charset="-120"/>
              </a:rPr>
              <a:t xml:space="preserve">El peor momento es cerca de las 6:00 a. m. El peatón sufre olor, riesgo de resbalar y se cambia de acera (docente y residente).</a:t>
            </a:r>
            <a:endParaRPr lang="es-CO" sz="900"/>
          </a:p>
          <a:p>
            <a:pPr marL="114300" indent="-114300">
              <a:buFont typeface="Arial"/>
              <a:buChar char="•"/>
              <a:spcAft>
                <a:spcPts val="200"/>
              </a:spcAft>
            </a:pPr>
            <a:r>
              <a:rPr lang="es-CO" sz="900" dirty="0">
                <a:solidFill>
                  <a:srgbClr val="1F2A44"/>
                </a:solidFill>
                <a:latin typeface="Calibri" pitchFamily="34" charset="0"/>
                <a:ea typeface="Calibri" pitchFamily="34" charset="-122"/>
                <a:cs typeface="Calibri" pitchFamily="34" charset="-120"/>
              </a:rPr>
              <a:t xml:space="preserve">«Nadie va a recoger la basura de otro»: se delega todo en Emvarias (docente). Solo 7 de 146 puntos intervenidos se sostienen (Alcaldía).</a:t>
            </a:r>
            <a:endParaRPr lang="es-CO" sz="900"/>
          </a:p>
        </p:txBody>
      </p:sp>
      <p:sp>
        <p:nvSpPr>
          <p:cNvPr id="15" name="Shape 13"/>
          <p:cNvSpPr/>
          <p:nvPr/>
        </p:nvSpPr>
        <p:spPr>
          <a:xfrm>
            <a:off x="6190488" y="1143000"/>
            <a:ext cx="5541264" cy="1600200"/>
          </a:xfrm>
          <a:prstGeom prst="roundRect">
            <a:avLst>
              <a:gd name="adj" fmla="val 3429"/>
            </a:avLst>
          </a:prstGeom>
          <a:solidFill>
            <a:srgbClr val="F4F7FC"/>
          </a:solidFill>
          <a:ln w="12700">
            <a:solidFill>
              <a:srgbClr val="C8D3E6"/>
            </a:solidFill>
            <a:prstDash val="solid"/>
          </a:ln>
        </p:spPr>
        <p:txBody>
          <a:bodyPr/>
          <a:lstStyle/>
          <a:p>
            <a:endParaRPr lang="es-CO"/>
          </a:p>
        </p:txBody>
      </p:sp>
      <p:sp>
        <p:nvSpPr>
          <p:cNvPr id="16" name="Text 14"/>
          <p:cNvSpPr txBox="1"/>
          <p:nvPr/>
        </p:nvSpPr>
        <p:spPr>
          <a:xfrm>
            <a:off x="6300216" y="1216152"/>
            <a:ext cx="5321808" cy="237744"/>
          </a:xfrm>
          <a:prstGeom prst="rect">
            <a:avLst/>
          </a:prstGeom>
          <a:noFill/>
          <a:ln/>
        </p:spPr>
        <p:txBody>
          <a:bodyPr wrap="square" lIns="0" tIns="0" rIns="0" bIns="0" rtlCol="0" anchor="ctr"/>
          <a:lstStyle/>
          <a:p>
            <a:pPr marL="0" indent="0">
              <a:buNone/>
            </a:pPr>
            <a:r>
              <a:rPr lang="en-US" sz="1050" b="1" kern="0" spc="50">
                <a:solidFill>
                  <a:srgbClr val="2557D6"/>
                </a:solidFill>
                <a:latin typeface="Calibri" pitchFamily="34" charset="0"/>
                <a:ea typeface="Calibri" pitchFamily="34" charset="-122"/>
                <a:cs typeface="Calibri" pitchFamily="34" charset="-120"/>
              </a:rPr>
              <a:t>REDEFINIR EL RETO</a:t>
            </a:r>
            <a:endParaRPr lang="en-US" sz="1050"/>
          </a:p>
        </p:txBody>
      </p:sp>
      <p:sp>
        <p:nvSpPr>
          <p:cNvPr id="17" name="Text 15"/>
          <p:cNvSpPr txBox="1"/>
          <p:nvPr/>
        </p:nvSpPr>
        <p:spPr>
          <a:xfrm>
            <a:off x="6300216" y="1490472"/>
            <a:ext cx="5321808" cy="1179576"/>
          </a:xfrm>
          <a:prstGeom prst="rect">
            <a:avLst/>
          </a:prstGeom>
          <a:noFill/>
          <a:ln/>
        </p:spPr>
        <p:txBody>
          <a:bodyPr wrap="square" lIns="0" tIns="0" rIns="0" bIns="0" rtlCol="0" anchor="t">
            <a:normAutofit/>
          </a:bodyPr>
          <a:lstStyle/>
          <a:p>
            <a:pPr marL="0" indent="0">
              <a:buNone/>
              <a:spcAft>
                <a:spcPts val="200"/>
              </a:spcAft>
            </a:pPr>
            <a:r>
              <a:rPr lang="es-CO" sz="1050" dirty="0">
                <a:solidFill>
                  <a:srgbClr val="1F2A44"/>
                </a:solidFill>
                <a:latin typeface="Calibri" pitchFamily="34" charset="0"/>
                <a:ea typeface="Calibri" pitchFamily="34" charset="-122"/>
                <a:cs typeface="Calibri" pitchFamily="34" charset="-120"/>
              </a:rPr>
              <a:t xml:space="preserve">¿Cómo podríamos lograr que, en una cuadra y un separador de Robledo (Medellín), los residuos de vecinos y de la población flotante salgan en el horario y lugar correctos y no queden en andenes y separadores, con vecinos, celadores y recicladores avisando y registrando lo que pasa para generar datos de los puntos críticos?</a:t>
            </a:r>
            <a:endParaRPr lang="es-CO" sz="1050"/>
          </a:p>
          <a:p>
            <a:pPr marL="0" indent="0">
              <a:buNone/>
              <a:spcAft>
                <a:spcPts val="200"/>
              </a:spcAft>
            </a:pPr>
            <a:r>
              <a:rPr lang="es-CO" sz="1050" b="1" dirty="0">
                <a:solidFill>
                  <a:srgbClr val="1F2A44"/>
                </a:solidFill>
                <a:latin typeface="Calibri" pitchFamily="34" charset="0"/>
                <a:ea typeface="Calibri" pitchFamily="34" charset="-122"/>
                <a:cs typeface="Calibri" pitchFamily="34" charset="-120"/>
              </a:rPr>
              <a:t xml:space="preserve">Validación: </a:t>
            </a:r>
            <a:r>
              <a:rPr lang="es-CO" sz="1050" dirty="0">
                <a:solidFill>
                  <a:srgbClr val="1F2A44"/>
                </a:solidFill>
                <a:latin typeface="Calibri" pitchFamily="34" charset="0"/>
                <a:ea typeface="Calibri" pitchFamily="34" charset="-122"/>
                <a:cs typeface="Calibri" pitchFamily="34" charset="-120"/>
              </a:rPr>
              <a:t xml:space="preserve">Robledo, comuna 7, Medellín.</a:t>
            </a:r>
            <a:endParaRPr lang="es-CO" sz="1050"/>
          </a:p>
        </p:txBody>
      </p:sp>
      <p:sp>
        <p:nvSpPr>
          <p:cNvPr id="18" name="Shape 16"/>
          <p:cNvSpPr/>
          <p:nvPr/>
        </p:nvSpPr>
        <p:spPr>
          <a:xfrm>
            <a:off x="457200" y="2852928"/>
            <a:ext cx="11274552" cy="1371600"/>
          </a:xfrm>
          <a:prstGeom prst="roundRect">
            <a:avLst>
              <a:gd name="adj" fmla="val 4000"/>
            </a:avLst>
          </a:prstGeom>
          <a:solidFill>
            <a:srgbClr val="F4F7FC"/>
          </a:solidFill>
          <a:ln w="12700">
            <a:solidFill>
              <a:srgbClr val="C8D3E6"/>
            </a:solidFill>
            <a:prstDash val="solid"/>
          </a:ln>
        </p:spPr>
        <p:txBody>
          <a:bodyPr/>
          <a:lstStyle/>
          <a:p>
            <a:endParaRPr lang="es-CO"/>
          </a:p>
        </p:txBody>
      </p:sp>
      <p:sp>
        <p:nvSpPr>
          <p:cNvPr id="19" name="Text 17"/>
          <p:cNvSpPr txBox="1"/>
          <p:nvPr/>
        </p:nvSpPr>
        <p:spPr>
          <a:xfrm>
            <a:off x="566928" y="2926080"/>
            <a:ext cx="11055096" cy="237744"/>
          </a:xfrm>
          <a:prstGeom prst="rect">
            <a:avLst/>
          </a:prstGeom>
          <a:noFill/>
          <a:ln/>
        </p:spPr>
        <p:txBody>
          <a:bodyPr wrap="square" lIns="0" tIns="0" rIns="0" bIns="0" rtlCol="0" anchor="ctr"/>
          <a:lstStyle/>
          <a:p>
            <a:pPr marL="0" indent="0">
              <a:buNone/>
            </a:pPr>
            <a:r>
              <a:rPr lang="en-US" sz="1050" b="1" kern="0" spc="50">
                <a:solidFill>
                  <a:srgbClr val="2557D6"/>
                </a:solidFill>
                <a:latin typeface="Calibri" pitchFamily="34" charset="0"/>
                <a:ea typeface="Calibri" pitchFamily="34" charset="-122"/>
                <a:cs typeface="Calibri" pitchFamily="34" charset="-120"/>
              </a:rPr>
              <a:t>OPORTUNIDAD</a:t>
            </a:r>
            <a:endParaRPr lang="en-US" sz="1050"/>
          </a:p>
        </p:txBody>
      </p:sp>
      <p:sp>
        <p:nvSpPr>
          <p:cNvPr id="20" name="Text 18"/>
          <p:cNvSpPr txBox="1"/>
          <p:nvPr/>
        </p:nvSpPr>
        <p:spPr>
          <a:xfrm>
            <a:off x="566928" y="3200400"/>
            <a:ext cx="11055096" cy="950976"/>
          </a:xfrm>
          <a:prstGeom prst="rect">
            <a:avLst/>
          </a:prstGeom>
          <a:noFill/>
          <a:ln/>
        </p:spPr>
        <p:txBody>
          <a:bodyPr wrap="square" lIns="0" tIns="0" rIns="0" bIns="0" rtlCol="0" anchor="t">
            <a:normAutofit/>
          </a:bodyPr>
          <a:lstStyle/>
          <a:p>
            <a:pPr marL="0" indent="0">
              <a:buNone/>
              <a:spcAft>
                <a:spcPts val="200"/>
              </a:spcAft>
            </a:pPr>
            <a:r>
              <a:rPr lang="es-CO" sz="1000" dirty="0">
                <a:solidFill>
                  <a:srgbClr val="1F2A44"/>
                </a:solidFill>
                <a:latin typeface="Calibri" pitchFamily="34" charset="0"/>
                <a:ea typeface="Calibri" pitchFamily="34" charset="-122"/>
                <a:cs typeface="Calibri" pitchFamily="34" charset="-120"/>
              </a:rPr>
              <a:t xml:space="preserve">No falta solo limpieza: falta información y seguimiento. Nadie conoce el horario del carro, nadie registra cuándo reaparece la basura y la Alcaldía no logra sostener los puntos limpios. En el sector hay actores presentes todo el día (celadores, comerciantes, recicladores) que pueden ser los ojos del punto crítico. Con un canal simple pueden avisar a tiempo, reportar y producir datos útiles para Emvarias y la Alcaldía, sin depender de multas ni de que «alguien recoja la basura de otro».</a:t>
            </a:r>
            <a:endParaRPr lang="es-CO" sz="1000"/>
          </a:p>
        </p:txBody>
      </p:sp>
      <p:sp>
        <p:nvSpPr>
          <p:cNvPr id="21" name="Shape 19"/>
          <p:cNvSpPr/>
          <p:nvPr/>
        </p:nvSpPr>
        <p:spPr>
          <a:xfrm>
            <a:off x="457200" y="4334256"/>
            <a:ext cx="5541264" cy="1938528"/>
          </a:xfrm>
          <a:prstGeom prst="roundRect">
            <a:avLst>
              <a:gd name="adj" fmla="val 2830"/>
            </a:avLst>
          </a:prstGeom>
          <a:solidFill>
            <a:srgbClr val="F4F7FC"/>
          </a:solidFill>
          <a:ln w="12700">
            <a:solidFill>
              <a:srgbClr val="C8D3E6"/>
            </a:solidFill>
            <a:prstDash val="solid"/>
          </a:ln>
        </p:spPr>
        <p:txBody>
          <a:bodyPr/>
          <a:lstStyle/>
          <a:p>
            <a:endParaRPr lang="es-CO"/>
          </a:p>
        </p:txBody>
      </p:sp>
      <p:sp>
        <p:nvSpPr>
          <p:cNvPr id="22" name="Text 20"/>
          <p:cNvSpPr txBox="1"/>
          <p:nvPr/>
        </p:nvSpPr>
        <p:spPr>
          <a:xfrm>
            <a:off x="566928" y="4407408"/>
            <a:ext cx="5321808" cy="237744"/>
          </a:xfrm>
          <a:prstGeom prst="rect">
            <a:avLst/>
          </a:prstGeom>
          <a:noFill/>
          <a:ln/>
        </p:spPr>
        <p:txBody>
          <a:bodyPr wrap="square" lIns="0" tIns="0" rIns="0" bIns="0" rtlCol="0" anchor="ctr"/>
          <a:lstStyle/>
          <a:p>
            <a:pPr marL="0" indent="0">
              <a:buNone/>
            </a:pPr>
            <a:r>
              <a:rPr lang="en-US" sz="1050" b="1" kern="0" spc="50">
                <a:solidFill>
                  <a:srgbClr val="2557D6"/>
                </a:solidFill>
                <a:latin typeface="Calibri" pitchFamily="34" charset="0"/>
                <a:ea typeface="Calibri" pitchFamily="34" charset="-122"/>
                <a:cs typeface="Calibri" pitchFamily="34" charset="-120"/>
              </a:rPr>
              <a:t>DETERMINANTES</a:t>
            </a:r>
            <a:endParaRPr lang="en-US" sz="1050"/>
          </a:p>
        </p:txBody>
      </p:sp>
      <p:sp>
        <p:nvSpPr>
          <p:cNvPr id="23" name="Text 21"/>
          <p:cNvSpPr txBox="1"/>
          <p:nvPr/>
        </p:nvSpPr>
        <p:spPr>
          <a:xfrm>
            <a:off x="566928" y="4681728"/>
            <a:ext cx="5321808" cy="1517904"/>
          </a:xfrm>
          <a:prstGeom prst="rect">
            <a:avLst/>
          </a:prstGeom>
          <a:noFill/>
          <a:ln/>
        </p:spPr>
        <p:txBody>
          <a:bodyPr wrap="square" lIns="0" tIns="0" rIns="0" bIns="0" rtlCol="0" anchor="t">
            <a:normAutofit/>
          </a:bodyPr>
          <a:lstStyle/>
          <a:p>
            <a:pPr marL="114300" indent="-114300">
              <a:buFont typeface="Arial"/>
              <a:buChar char="•"/>
              <a:spcAft>
                <a:spcPts val="200"/>
              </a:spcAft>
            </a:pPr>
            <a:r>
              <a:rPr lang="es-CO" sz="900" dirty="0">
                <a:solidFill>
                  <a:srgbClr val="1F2A44"/>
                </a:solidFill>
                <a:latin typeface="Calibri" pitchFamily="34" charset="0"/>
                <a:ea typeface="Calibri" pitchFamily="34" charset="-122"/>
                <a:cs typeface="Calibri" pitchFamily="34" charset="-120"/>
              </a:rPr>
              <a:t xml:space="preserve">Hábitos: se saca la basura cuando se puede (de 6:00 a 8:00 p. m.) y no cuando pasa el carro.</a:t>
            </a:r>
            <a:endParaRPr lang="es-CO" sz="900"/>
          </a:p>
          <a:p>
            <a:pPr marL="114300" indent="-114300">
              <a:buFont typeface="Arial"/>
              <a:buChar char="•"/>
              <a:spcAft>
                <a:spcPts val="200"/>
              </a:spcAft>
            </a:pPr>
            <a:r>
              <a:rPr lang="es-CO" sz="900" dirty="0">
                <a:solidFill>
                  <a:srgbClr val="1F2A44"/>
                </a:solidFill>
                <a:latin typeface="Calibri" pitchFamily="34" charset="0"/>
                <a:ea typeface="Calibri" pitchFamily="34" charset="-122"/>
                <a:cs typeface="Calibri" pitchFamily="34" charset="-120"/>
              </a:rPr>
              <a:t xml:space="preserve">Población flotante: estudiantes, trabajadores y conductores que no viven en el sector.</a:t>
            </a:r>
            <a:endParaRPr lang="es-CO" sz="900"/>
          </a:p>
          <a:p>
            <a:pPr marL="114300" indent="-114300">
              <a:buFont typeface="Arial"/>
              <a:buChar char="•"/>
              <a:spcAft>
                <a:spcPts val="200"/>
              </a:spcAft>
            </a:pPr>
            <a:r>
              <a:rPr lang="es-CO" sz="900" dirty="0">
                <a:solidFill>
                  <a:srgbClr val="1F2A44"/>
                </a:solidFill>
                <a:latin typeface="Calibri" pitchFamily="34" charset="0"/>
                <a:ea typeface="Calibri" pitchFamily="34" charset="-122"/>
                <a:cs typeface="Calibri" pitchFamily="34" charset="-120"/>
              </a:rPr>
              <a:t xml:space="preserve">Entorno: sin canecas ni punto de acopio; los contenedores se retiraron hace más de un año.</a:t>
            </a:r>
            <a:endParaRPr lang="es-CO" sz="900"/>
          </a:p>
          <a:p>
            <a:pPr marL="114300" indent="-114300">
              <a:buFont typeface="Arial"/>
              <a:buChar char="•"/>
              <a:spcAft>
                <a:spcPts val="200"/>
              </a:spcAft>
            </a:pPr>
            <a:r>
              <a:rPr lang="es-CO" sz="900" dirty="0">
                <a:solidFill>
                  <a:srgbClr val="1F2A44"/>
                </a:solidFill>
                <a:latin typeface="Calibri" pitchFamily="34" charset="0"/>
                <a:ea typeface="Calibri" pitchFamily="34" charset="-122"/>
                <a:cs typeface="Calibri" pitchFamily="34" charset="-120"/>
              </a:rPr>
              <a:t xml:space="preserve">Normas: recolección dos días por semana (según el residente); falta información visible.</a:t>
            </a:r>
            <a:endParaRPr lang="es-CO" sz="900"/>
          </a:p>
          <a:p>
            <a:pPr marL="114300" indent="-114300">
              <a:buFont typeface="Arial"/>
              <a:buChar char="•"/>
              <a:spcAft>
                <a:spcPts val="200"/>
              </a:spcAft>
            </a:pPr>
            <a:r>
              <a:rPr lang="es-CO" sz="900" dirty="0">
                <a:solidFill>
                  <a:srgbClr val="1F2A44"/>
                </a:solidFill>
                <a:latin typeface="Calibri" pitchFamily="34" charset="0"/>
                <a:ea typeface="Calibri" pitchFamily="34" charset="-122"/>
                <a:cs typeface="Calibri" pitchFamily="34" charset="-120"/>
              </a:rPr>
              <a:t xml:space="preserve">Actores: vecinos, celadores, comerciantes, recicladores, Emvarias, Medio Ambiente y Gestión y Control Territorial.</a:t>
            </a:r>
            <a:endParaRPr lang="es-CO" sz="900"/>
          </a:p>
        </p:txBody>
      </p:sp>
      <p:sp>
        <p:nvSpPr>
          <p:cNvPr id="24" name="Shape 22"/>
          <p:cNvSpPr/>
          <p:nvPr/>
        </p:nvSpPr>
        <p:spPr>
          <a:xfrm>
            <a:off x="6190488" y="4334256"/>
            <a:ext cx="5541264" cy="1938528"/>
          </a:xfrm>
          <a:prstGeom prst="roundRect">
            <a:avLst>
              <a:gd name="adj" fmla="val 2830"/>
            </a:avLst>
          </a:prstGeom>
          <a:solidFill>
            <a:srgbClr val="F4F7FC"/>
          </a:solidFill>
          <a:ln w="12700">
            <a:solidFill>
              <a:srgbClr val="C8D3E6"/>
            </a:solidFill>
            <a:prstDash val="solid"/>
          </a:ln>
        </p:spPr>
        <p:txBody>
          <a:bodyPr/>
          <a:lstStyle/>
          <a:p>
            <a:endParaRPr lang="es-CO"/>
          </a:p>
        </p:txBody>
      </p:sp>
      <p:sp>
        <p:nvSpPr>
          <p:cNvPr id="25" name="Text 23"/>
          <p:cNvSpPr txBox="1"/>
          <p:nvPr/>
        </p:nvSpPr>
        <p:spPr>
          <a:xfrm>
            <a:off x="6300216" y="4407408"/>
            <a:ext cx="5321808" cy="237744"/>
          </a:xfrm>
          <a:prstGeom prst="rect">
            <a:avLst/>
          </a:prstGeom>
          <a:noFill/>
          <a:ln/>
        </p:spPr>
        <p:txBody>
          <a:bodyPr wrap="square" lIns="0" tIns="0" rIns="0" bIns="0" rtlCol="0" anchor="ctr"/>
          <a:lstStyle/>
          <a:p>
            <a:pPr marL="0" indent="0">
              <a:buNone/>
            </a:pPr>
            <a:r>
              <a:rPr lang="en-US" sz="1050" b="1" kern="0" spc="50">
                <a:solidFill>
                  <a:srgbClr val="2557D6"/>
                </a:solidFill>
                <a:latin typeface="Calibri" pitchFamily="34" charset="0"/>
                <a:ea typeface="Calibri" pitchFamily="34" charset="-122"/>
                <a:cs typeface="Calibri" pitchFamily="34" charset="-120"/>
              </a:rPr>
              <a:t>LIMITANTES</a:t>
            </a:r>
            <a:endParaRPr lang="en-US" sz="1050"/>
          </a:p>
        </p:txBody>
      </p:sp>
      <p:sp>
        <p:nvSpPr>
          <p:cNvPr id="26" name="Text 24"/>
          <p:cNvSpPr txBox="1"/>
          <p:nvPr/>
        </p:nvSpPr>
        <p:spPr>
          <a:xfrm>
            <a:off x="6300216" y="4681728"/>
            <a:ext cx="5321808" cy="1517904"/>
          </a:xfrm>
          <a:prstGeom prst="rect">
            <a:avLst/>
          </a:prstGeom>
          <a:noFill/>
          <a:ln/>
        </p:spPr>
        <p:txBody>
          <a:bodyPr wrap="square" lIns="0" tIns="0" rIns="0" bIns="0" rtlCol="0" anchor="t">
            <a:normAutofit/>
          </a:bodyPr>
          <a:lstStyle/>
          <a:p>
            <a:pPr marL="114300" indent="-114300">
              <a:buFont typeface="Arial"/>
              <a:buChar char="•"/>
              <a:spcAft>
                <a:spcPts val="200"/>
              </a:spcAft>
            </a:pPr>
            <a:r>
              <a:rPr lang="es-CO" sz="900" dirty="0">
                <a:solidFill>
                  <a:srgbClr val="1F2A44"/>
                </a:solidFill>
                <a:latin typeface="Calibri" pitchFamily="34" charset="0"/>
                <a:ea typeface="Calibri" pitchFamily="34" charset="-122"/>
                <a:cs typeface="Calibri" pitchFamily="34" charset="-120"/>
              </a:rPr>
              <a:t xml:space="preserve">Tiempo: una jornada y sin presupuesto.</a:t>
            </a:r>
            <a:endParaRPr lang="es-CO" sz="900"/>
          </a:p>
          <a:p>
            <a:pPr marL="114300" indent="-114300">
              <a:buFont typeface="Arial"/>
              <a:buChar char="•"/>
              <a:spcAft>
                <a:spcPts val="200"/>
              </a:spcAft>
            </a:pPr>
            <a:r>
              <a:rPr lang="es-CO" sz="900" dirty="0">
                <a:solidFill>
                  <a:srgbClr val="1F2A44"/>
                </a:solidFill>
                <a:latin typeface="Calibri" pitchFamily="34" charset="0"/>
                <a:ea typeface="Calibri" pitchFamily="34" charset="-122"/>
                <a:cs typeface="Calibri" pitchFamily="34" charset="-120"/>
              </a:rPr>
              <a:t xml:space="preserve">No controlamos las rutas ni los horarios de Emvarias.</a:t>
            </a:r>
            <a:endParaRPr lang="es-CO" sz="900"/>
          </a:p>
          <a:p>
            <a:pPr marL="114300" indent="-114300">
              <a:buFont typeface="Arial"/>
              <a:buChar char="•"/>
              <a:spcAft>
                <a:spcPts val="200"/>
              </a:spcAft>
            </a:pPr>
            <a:r>
              <a:rPr lang="es-CO" sz="900" dirty="0">
                <a:solidFill>
                  <a:srgbClr val="1F2A44"/>
                </a:solidFill>
                <a:latin typeface="Calibri" pitchFamily="34" charset="0"/>
                <a:ea typeface="Calibri" pitchFamily="34" charset="-122"/>
                <a:cs typeface="Calibri" pitchFamily="34" charset="-120"/>
              </a:rPr>
              <a:t xml:space="preserve">No podemos instalar infraestructura (canecas, contenedores) ni imponer multas.</a:t>
            </a:r>
            <a:endParaRPr lang="es-CO" sz="900"/>
          </a:p>
          <a:p>
            <a:pPr marL="114300" indent="-114300">
              <a:buFont typeface="Arial"/>
              <a:buChar char="•"/>
              <a:spcAft>
                <a:spcPts val="200"/>
              </a:spcAft>
            </a:pPr>
            <a:r>
              <a:rPr lang="es-CO" sz="900" dirty="0">
                <a:solidFill>
                  <a:srgbClr val="1F2A44"/>
                </a:solidFill>
                <a:latin typeface="Calibri" pitchFamily="34" charset="0"/>
                <a:ea typeface="Calibri" pitchFamily="34" charset="-122"/>
                <a:cs typeface="Calibri" pitchFamily="34" charset="-120"/>
              </a:rPr>
              <a:t xml:space="preserve">Los datos oficiales están dispersos y no existen por cuadra.</a:t>
            </a:r>
            <a:endParaRPr lang="es-CO" sz="900"/>
          </a:p>
          <a:p>
            <a:pPr marL="114300" indent="-114300">
              <a:buFont typeface="Arial"/>
              <a:buChar char="•"/>
              <a:spcAft>
                <a:spcPts val="200"/>
              </a:spcAft>
            </a:pPr>
            <a:r>
              <a:rPr lang="es-CO" sz="900" dirty="0">
                <a:solidFill>
                  <a:srgbClr val="1F2A44"/>
                </a:solidFill>
                <a:latin typeface="Calibri" pitchFamily="34" charset="0"/>
                <a:ea typeface="Calibri" pitchFamily="34" charset="-122"/>
                <a:cs typeface="Calibri" pitchFamily="34" charset="-120"/>
              </a:rPr>
              <a:t xml:space="preserve">Escepticismo ciudadano frente a la acción comunitaria.</a:t>
            </a:r>
            <a:endParaRPr lang="es-CO" sz="900"/>
          </a:p>
          <a:p>
            <a:pPr marL="114300" indent="-114300">
              <a:buFont typeface="Arial"/>
              <a:buChar char="•"/>
              <a:spcAft>
                <a:spcPts val="200"/>
              </a:spcAft>
            </a:pPr>
            <a:r>
              <a:rPr lang="es-CO" sz="900" dirty="0">
                <a:solidFill>
                  <a:srgbClr val="1F2A44"/>
                </a:solidFill>
                <a:latin typeface="Calibri" pitchFamily="34" charset="0"/>
                <a:ea typeface="Calibri" pitchFamily="34" charset="-122"/>
                <a:cs typeface="Calibri" pitchFamily="34" charset="-120"/>
              </a:rPr>
              <a:t xml:space="preserve">La prueba será pequeña: una cuadra y pocas personas.</a:t>
            </a:r>
            <a:endParaRPr lang="es-CO" sz="900"/>
          </a:p>
        </p:txBody>
      </p:sp>
      <p:sp>
        <p:nvSpPr>
          <p:cNvPr id="27" name="Slide Number Placeholder 0"/>
          <p:cNvSpPr>
            <a:spLocks noGrp="1"/>
          </p:cNvSpPr>
          <p:nvPr>
            <p:ph type="sldNum" sz="quarter" idx="4294967295"/>
          </p:nvPr>
        </p:nvSpPr>
        <p:spPr>
          <a:xfrm>
            <a:off x="9464040" y="6483096"/>
            <a:ext cx="54864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B8DC0E"/>
                </a:solidFill>
                <a:latin typeface="Calibri"/>
                <a:ea typeface="Calibri"/>
                <a:cs typeface="Calibri"/>
              </a:defRPr>
            </a:lvl1pPr>
          </a:lstStyle>
          <a:p>
            <a:pPr algn="r"/>
            <a:fld id="{F7021451-1387-4CA6-816F-3879F97B5CBC}" type="slidenum">
              <a:rPr lang="en-US" b="0"/>
              <a:t>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D338A2DF8BF5634585C143A65DE36F97" ma:contentTypeVersion="7" ma:contentTypeDescription="Crear nuevo documento." ma:contentTypeScope="" ma:versionID="fa98356796f1b2bd2690b0a6df2de91c">
  <xsd:schema xmlns:xsd="http://www.w3.org/2001/XMLSchema" xmlns:xs="http://www.w3.org/2001/XMLSchema" xmlns:p="http://schemas.microsoft.com/office/2006/metadata/properties" xmlns:ns2="6d154cc3-f26b-4771-bcfe-6a354b05b084" targetNamespace="http://schemas.microsoft.com/office/2006/metadata/properties" ma:root="true" ma:fieldsID="985c21c8624f49879456639692593b48" ns2:_="">
    <xsd:import namespace="6d154cc3-f26b-4771-bcfe-6a354b05b084"/>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d154cc3-f26b-4771-bcfe-6a354b05b08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AE58A819-F4B2-4519-9CB1-047D8B57639C}">
  <ds:schemaRefs>
    <ds:schemaRef ds:uri="6d154cc3-f26b-4771-bcfe-6a354b05b084"/>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6227207E-CED8-4964-A562-786A16881F11}">
  <ds:schemaRefs>
    <ds:schemaRef ds:uri="http://schemas.microsoft.com/sharepoint/v3/contenttype/forms"/>
  </ds:schemaRefs>
</ds:datastoreItem>
</file>

<file path=customXml/itemProps3.xml><?xml version="1.0" encoding="utf-8"?>
<ds:datastoreItem xmlns:ds="http://schemas.openxmlformats.org/officeDocument/2006/customXml" ds:itemID="{D5D71096-E685-48D7-BD93-8E60B1739557}">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3</Slides>
  <Notes>3</Notes>
  <HiddenSlides>0</HiddenSlides>
  <ScaleCrop>false</ScaleCrop>
  <HeadingPairs>
    <vt:vector size="4" baseType="variant">
      <vt:variant>
        <vt:lpstr>Theme</vt:lpstr>
      </vt:variant>
      <vt:variant>
        <vt:i4>1</vt:i4>
      </vt:variant>
      <vt:variant>
        <vt:lpstr>Slide Titles</vt:lpstr>
      </vt:variant>
      <vt:variant>
        <vt:i4>3</vt:i4>
      </vt:variant>
    </vt:vector>
  </HeadingPairs>
  <TitlesOfParts>
    <vt:vector size="4" baseType="lpstr">
      <vt:lpstr>Office Theme</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GENIA · Genera tu reto</dc:title>
  <dc:subject>PptxGenJS Presentation</dc:subject>
  <dc:creator>Hackatón EISI 2026</dc:creator>
  <cp:revision>1</cp:revision>
  <dcterms:created xsi:type="dcterms:W3CDTF">2026-10-29T05:02:46Z</dcterms:created>
  <dcterms:modified xsi:type="dcterms:W3CDTF">2026-10-29T15:36:06Z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0x010100D338A2DF8BF5634585C143A65DE36F97</vt:lpwstr>
  </property>
</Properties>
</file>